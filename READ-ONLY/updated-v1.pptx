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.jpe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.jpe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" name="Shape 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Based on the supplied source deck AnnoBot_presentation_v10.pptx.</a:t>
            </a:r>
          </a:p>
          <a:p>
            <a:pPr/>
            <a:r>
              <a:t>Theory draws from 13_manuscript_ERSS_restructured_updated.docx and Annotation_System.pdf.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" name="Shape 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Annotation_System.pdf section 3.1, pages 8 to 12, defines E = &lt;Q,S,T&gt; and the role of each component.</a:t>
            </a:r>
          </a:p>
          <a:p>
            <a:pPr/>
            <a:r>
              <a:t>The washing-machine examples in the source distinguish annotation-free and annotation-based recognition.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" name="Shape 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ERSS manuscript sections 1, 3.1, 3.2, and 3.3.</a:t>
            </a:r>
          </a:p>
          <a:p>
            <a:pPr/>
            <a:r>
              <a:t>The manuscript frames household energy use as service relevance rather than optimization alone.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0" name="Shape 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Synthesis from the ERSS manuscript abstract, sections 2.4 and 5, and the prior source deck outline.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1" name="Shape 1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ERSS manuscript sections 4.1 and 5.1.</a:t>
            </a:r>
          </a:p>
          <a:p>
            <a:pPr/>
            <a:r>
              <a:t>The source defines service sufficiency as situated adequacy in relation to well-being, constraints, and resource use.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6" name="Shape 1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ERSS manuscript sections 4.2 and 4.3.</a:t>
            </a:r>
          </a:p>
          <a:p>
            <a:pPr/>
            <a:r>
              <a:t>The manuscript describes inclusive sufficiency management as non-coercive home energy management that includes inhabitant knowledge.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" name="Shape 1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Annotation_System.pdf section 3.1, pages 8 to 12, defines E = &lt;Q,S,T&gt; and the role of each component.</a:t>
            </a:r>
          </a:p>
          <a:p>
            <a:pPr/>
            <a:r>
              <a:t>The washing-machine examples in the source distinguish annotation-free and annotation-based recognition.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4" name="Shape 2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ERSS manuscript sections 1, 2.3, and 5.2.</a:t>
            </a:r>
          </a:p>
          <a:p>
            <a:pPr/>
            <a:r>
              <a:t>Annotation_System.pdf introduction and problem formulation, especially pages 1 and 8 to 12.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4" name="Shape 2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Annotation_System.pdf section 3, pages 8 to 9, defines occupants as intentional learners who question, observe, and reflect.</a:t>
            </a:r>
          </a:p>
          <a:p>
            <a:pPr/>
            <a:r>
              <a:t>ERSS manuscript sections 3.3 and 8.1 support the co-investigator framing.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2" name="Shape 2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ERSS manuscript sections 5.1 and 5.3.</a:t>
            </a:r>
          </a:p>
          <a:p>
            <a:pPr/>
            <a:r>
              <a:t>A case can include context, action, service, measured effect, inhabitant evaluation, and outcome.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8" name="Shape 2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ERSS manuscript section 5.2.</a:t>
            </a:r>
          </a:p>
          <a:p>
            <a:pPr/>
            <a:r>
              <a:t>Annotation_System.pdf sections 3.1 and 4.2, pages 9 to 12 and 18 to 22.</a:t>
            </a:r>
          </a:p>
          <a:p>
            <a:pPr/>
            <a:r>
              <a:t>The source emphasizes low burden and privacy-preserving environmental and power sensors.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8" name="Shape 2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ERSS manuscript sections 2.4, 5, and 6.1.</a:t>
            </a:r>
          </a:p>
          <a:p>
            <a:pPr/>
            <a:r>
              <a:t>The loop is observe, annotate, interpret, experiment, revise.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8" name="Shape 2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Theory added in response to the request for more theory with references.</a:t>
            </a:r>
          </a:p>
          <a:p>
            <a:pPr/>
            <a:r>
              <a:t>Max-Neef et al. (1991) and Brand-Correa &amp; Steinberger (2017) are listed in the supplied ERSS manuscript references.</a:t>
            </a:r>
          </a:p>
          <a:p>
            <a:pPr/>
            <a:r>
              <a:t>ERSS manuscript section 4.1 defines service sufficiency as situated adequacy in relation to well-being, constraints, and resource use.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3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8" name="Shape 3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ERSS manuscript section 3.4 summarizes social practice approaches and the operationalization challenge.</a:t>
            </a:r>
          </a:p>
          <a:p>
            <a:pPr/>
            <a:r>
              <a:t>ERSS manuscript section 5.1 defines domestic situations as socio-physical objects.</a:t>
            </a:r>
          </a:p>
          <a:p>
            <a:pPr/>
            <a:r>
              <a:t>Sovacool (2014) is retained from the supplied ERSS manuscript reference list.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3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8" name="Shape 3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cited works are retained from the ERSS manuscript reference list.</a:t>
            </a:r>
          </a:p>
          <a:p>
            <a:pPr/>
            <a:r>
              <a:t>ERSS manuscript section 3 contrasts efficiency, feedback, occupant-centric control, and practice-based analysis.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9" name="Shape 3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Das et al. (2021), Fiori et al. (2024), and Boulmaiz (2024) are listed in the supplied materials.</a:t>
            </a:r>
          </a:p>
          <a:p>
            <a:pPr/>
            <a:r>
              <a:t>ERSS manuscript section 5.3 frames interpretation through cases and explanations.</a:t>
            </a:r>
          </a:p>
          <a:p>
            <a:pPr/>
            <a:r>
              <a:t>Boulmaiz details are marked for verification in the supplied ERSS manuscript, so the deck treats it as supplied/internal reference material.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3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0" name="Shape 3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Suboticki et al. (2019) appears in the ERSS manuscript reference list.</a:t>
            </a:r>
          </a:p>
          <a:p>
            <a:pPr/>
            <a:r>
              <a:t>Silva et al. (2022), Demrozi et al. (2023), and Tan et al. (2024) appear in Annotation_System.pdf references.</a:t>
            </a:r>
          </a:p>
          <a:p>
            <a:pPr/>
            <a:r>
              <a:t>Annotation_System.pdf introduction emphasizes privacy-preserving sensing and low annotation burden.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3" name="Shape 4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Annotation_System.pdf sections 3.2 and 4, pages 12 to 24.</a:t>
            </a:r>
          </a:p>
          <a:p>
            <a:pPr/>
            <a:r>
              <a:t>Retained and rewritten from existing source deck slide 8.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4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7" name="Shape 4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Annotation_System.pdf section 4.2 and trigger criteria table, pages 18 to 22.</a:t>
            </a:r>
          </a:p>
          <a:p>
            <a:pPr/>
            <a:r>
              <a:t>Retained and clarified from existing source deck slide 9.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3" name="Shape 4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Annotation_System.pdf section 4.3, pages 23 to 25.</a:t>
            </a:r>
          </a:p>
          <a:p>
            <a:pPr/>
            <a:r>
              <a:t>ERSS manuscript section 6.4 on reflective interfaces.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3" name="Shape 4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Current features summarized from Annotation_System.pdf implementation sections 5 and 6 and existing source deck slides 12 to 16.</a:t>
            </a:r>
          </a:p>
          <a:p>
            <a:pPr/>
            <a:r>
              <a:t>Conceptual or future items draw from ERSS manuscript evidence-status and future-validation sections.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5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04" name="Shape 5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Retained and redrawn from existing source deck slide 15.</a:t>
            </a:r>
          </a:p>
          <a:p>
            <a:pPr/>
            <a:r>
              <a:t>Annotation_System.pdf section 5 describes Home Assistant, TimescaleDB/PostgreSQL, LangChain/OpenRouter, Telegram Bot, and backend APIs.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9" name="Shape 5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Condensed from existing source deck slide 12.</a:t>
            </a:r>
          </a:p>
          <a:p>
            <a:pPr/>
            <a:r>
              <a:t>Annotation_System.pdf sections 5 and 6 describe the implemented daily workflow and Telegram-based label assignment test.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Shape 5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78" name="Shape 5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Condensed from existing source deck slide 13.</a:t>
            </a:r>
          </a:p>
          <a:p>
            <a:pPr/>
            <a:r>
              <a:t>The revision step is a conceptual extension from the ERSS inquiry loop and should not be presented as fully implemented.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Shape 5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4" name="Shape 5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ERSS manuscript sections 2.1, 7.2, 7.3, 7.4, and 8.4.</a:t>
            </a:r>
          </a:p>
          <a:p>
            <a:pPr/>
            <a:r>
              <a:t>Annotation_System.pdf section 6 reports simulated dishwasher data and Telegram interaction tests.</a:t>
            </a:r>
          </a:p>
          <a:p>
            <a:pPr/>
            <a:r>
              <a:t>Existing source deck slide 16 listed implementation limitations; this slide separates prototype limits from framework validation limits.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6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05" name="Shape 6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References preserved from the supplied ERSS manuscript and source deck.</a:t>
            </a:r>
          </a:p>
          <a:p>
            <a:pPr/>
            <a:r>
              <a:t>The IEA reference is retained from the original deck.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Shape 6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4" name="Shape 6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References preserved from Annotation_System.pdf and the ERSS manuscript.</a:t>
            </a:r>
          </a:p>
          <a:p>
            <a:pPr/>
            <a:r>
              <a:t>Some doctoral and working-manuscript entries in the supplied files are incomplete or marked for verification.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hape 6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0" name="Shape 6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Closing slide adapted from the supplied source deck.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/>
          <p:nvPr/>
        </p:nvSpPr>
        <p:spPr>
          <a:xfrm>
            <a:off x="874064" y="1429044"/>
            <a:ext cx="7719061" cy="74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58368">
              <a:defRPr b="1" sz="2304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When Smart Buildings Listen And Support inhabitants </a:t>
            </a:r>
          </a:p>
        </p:txBody>
      </p:sp>
      <p:sp>
        <p:nvSpPr>
          <p:cNvPr id="21" name="Rectangle 3"/>
          <p:cNvSpPr txBox="1"/>
          <p:nvPr/>
        </p:nvSpPr>
        <p:spPr>
          <a:xfrm>
            <a:off x="912164" y="1957332"/>
            <a:ext cx="7338061" cy="400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AnnoBot as infrastructure for occupant-defined inquiry</a:t>
            </a:r>
          </a:p>
        </p:txBody>
      </p:sp>
      <p:sp>
        <p:nvSpPr>
          <p:cNvPr id="22" name="Rectangle 4"/>
          <p:cNvSpPr txBox="1"/>
          <p:nvPr/>
        </p:nvSpPr>
        <p:spPr>
          <a:xfrm>
            <a:off x="883919" y="4191000"/>
            <a:ext cx="5814062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3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Grenoble INP, G-SCOP Laboratory</a:t>
            </a:r>
          </a:p>
          <a:p>
            <a:pPr>
              <a:defRPr sz="13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September 2026</a:t>
            </a:r>
          </a:p>
        </p:txBody>
      </p:sp>
      <p:pic>
        <p:nvPicPr>
          <p:cNvPr id="23" name="call_CzivdYfYTSiXNRim6bfAi45k.png" descr="call_CzivdYfYTSiXNRim6bfAi45k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79106" y="2606026"/>
            <a:ext cx="6783325" cy="38176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8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Rectangle 1"/>
          <p:cNvSpPr txBox="1"/>
          <p:nvPr/>
        </p:nvSpPr>
        <p:spPr>
          <a:xfrm>
            <a:off x="683894" y="266700"/>
            <a:ext cx="10243186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Example of listening smart-building service</a:t>
            </a:r>
          </a:p>
        </p:txBody>
      </p:sp>
      <p:sp>
        <p:nvSpPr>
          <p:cNvPr id="29" name="Rectangle 2"/>
          <p:cNvSpPr txBox="1"/>
          <p:nvPr/>
        </p:nvSpPr>
        <p:spPr>
          <a:xfrm>
            <a:off x="11332844" y="6438900"/>
            <a:ext cx="337186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pic>
        <p:nvPicPr>
          <p:cNvPr id="30" name="washing_machine_use_case.jpg" descr="washing_machine_use_case.jpg"/>
          <p:cNvPicPr>
            <a:picLocks noChangeAspect="1"/>
          </p:cNvPicPr>
          <p:nvPr/>
        </p:nvPicPr>
        <p:blipFill>
          <a:blip r:embed="rId3">
            <a:extLst/>
          </a:blip>
          <a:srcRect l="12261" t="6074" r="12261" b="6074"/>
          <a:stretch>
            <a:fillRect/>
          </a:stretch>
        </p:blipFill>
        <p:spPr>
          <a:xfrm>
            <a:off x="1704103" y="1076525"/>
            <a:ext cx="8783794" cy="57508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17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Underlying philosophy of listening smart-building</a:t>
            </a:r>
          </a:p>
        </p:txBody>
      </p:sp>
      <p:sp>
        <p:nvSpPr>
          <p:cNvPr id="36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7" name="Rectangle 3"/>
          <p:cNvSpPr txBox="1"/>
          <p:nvPr/>
        </p:nvSpPr>
        <p:spPr>
          <a:xfrm>
            <a:off x="864869" y="1314450"/>
            <a:ext cx="10386062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Most smart-building systems improve sensing or control. Sufficiency asks whether the service itself fits the situation.</a:t>
            </a:r>
          </a:p>
        </p:txBody>
      </p:sp>
      <p:sp>
        <p:nvSpPr>
          <p:cNvPr id="38" name="Rounded Rectangle 4"/>
          <p:cNvSpPr/>
          <p:nvPr/>
        </p:nvSpPr>
        <p:spPr>
          <a:xfrm>
            <a:off x="876300" y="2381250"/>
            <a:ext cx="3048000" cy="1809750"/>
          </a:xfrm>
          <a:prstGeom prst="roundRect">
            <a:avLst>
              <a:gd name="adj" fmla="val 4211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Rectangle 5"/>
          <p:cNvSpPr/>
          <p:nvPr/>
        </p:nvSpPr>
        <p:spPr>
          <a:xfrm>
            <a:off x="876300" y="2381250"/>
            <a:ext cx="76200" cy="180975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Rectangle 6"/>
          <p:cNvSpPr txBox="1"/>
          <p:nvPr/>
        </p:nvSpPr>
        <p:spPr>
          <a:xfrm>
            <a:off x="1150619" y="2552700"/>
            <a:ext cx="25565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Technical efficiency</a:t>
            </a:r>
          </a:p>
        </p:txBody>
      </p:sp>
      <p:sp>
        <p:nvSpPr>
          <p:cNvPr id="41" name="Rectangle 7"/>
          <p:cNvSpPr txBox="1"/>
          <p:nvPr/>
        </p:nvSpPr>
        <p:spPr>
          <a:xfrm>
            <a:off x="1150619" y="2990850"/>
            <a:ext cx="2556512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Improves how a service is delivered, but can still provide an unnecessary service efficiently.</a:t>
            </a:r>
          </a:p>
        </p:txBody>
      </p:sp>
      <p:sp>
        <p:nvSpPr>
          <p:cNvPr id="42" name="Rounded Rectangle 8"/>
          <p:cNvSpPr/>
          <p:nvPr/>
        </p:nvSpPr>
        <p:spPr>
          <a:xfrm>
            <a:off x="4572000" y="2381250"/>
            <a:ext cx="3048000" cy="1809750"/>
          </a:xfrm>
          <a:prstGeom prst="roundRect">
            <a:avLst>
              <a:gd name="adj" fmla="val 4211"/>
            </a:avLst>
          </a:prstGeom>
          <a:solidFill>
            <a:srgbClr val="FFF3E3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Rectangle 9"/>
          <p:cNvSpPr/>
          <p:nvPr/>
        </p:nvSpPr>
        <p:spPr>
          <a:xfrm>
            <a:off x="4572000" y="2381250"/>
            <a:ext cx="76200" cy="1809750"/>
          </a:xfrm>
          <a:prstGeom prst="rect">
            <a:avLst/>
          </a:prstGeom>
          <a:solidFill>
            <a:srgbClr val="C07D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Rectangle 10"/>
          <p:cNvSpPr txBox="1"/>
          <p:nvPr/>
        </p:nvSpPr>
        <p:spPr>
          <a:xfrm>
            <a:off x="4846319" y="2552700"/>
            <a:ext cx="25565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Automation</a:t>
            </a:r>
          </a:p>
        </p:txBody>
      </p:sp>
      <p:sp>
        <p:nvSpPr>
          <p:cNvPr id="45" name="Rectangle 11"/>
          <p:cNvSpPr txBox="1"/>
          <p:nvPr/>
        </p:nvSpPr>
        <p:spPr>
          <a:xfrm>
            <a:off x="4846319" y="2990850"/>
            <a:ext cx="2556512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Acts when objectives are stable, but cannot decide alone whether a service is meaningful or acceptable.</a:t>
            </a:r>
          </a:p>
        </p:txBody>
      </p:sp>
      <p:sp>
        <p:nvSpPr>
          <p:cNvPr id="46" name="Rounded Rectangle 12"/>
          <p:cNvSpPr/>
          <p:nvPr/>
        </p:nvSpPr>
        <p:spPr>
          <a:xfrm>
            <a:off x="8267700" y="2381250"/>
            <a:ext cx="3048000" cy="1809750"/>
          </a:xfrm>
          <a:prstGeom prst="roundRect">
            <a:avLst>
              <a:gd name="adj" fmla="val 4211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Rectangle 13"/>
          <p:cNvSpPr/>
          <p:nvPr/>
        </p:nvSpPr>
        <p:spPr>
          <a:xfrm>
            <a:off x="8267700" y="2381250"/>
            <a:ext cx="76200" cy="180975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Rectangle 14"/>
          <p:cNvSpPr txBox="1"/>
          <p:nvPr/>
        </p:nvSpPr>
        <p:spPr>
          <a:xfrm>
            <a:off x="8542019" y="2552700"/>
            <a:ext cx="25565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Feedback and advice</a:t>
            </a:r>
          </a:p>
        </p:txBody>
      </p:sp>
      <p:sp>
        <p:nvSpPr>
          <p:cNvPr id="49" name="Rectangle 15"/>
          <p:cNvSpPr txBox="1"/>
          <p:nvPr/>
        </p:nvSpPr>
        <p:spPr>
          <a:xfrm>
            <a:off x="8542019" y="2990850"/>
            <a:ext cx="2556512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Makes energy visible, but often stays detached from activities, service expectations, and household constraints.</a:t>
            </a:r>
          </a:p>
        </p:txBody>
      </p:sp>
      <p:sp>
        <p:nvSpPr>
          <p:cNvPr id="50" name="Rectangle 16"/>
          <p:cNvSpPr txBox="1"/>
          <p:nvPr/>
        </p:nvSpPr>
        <p:spPr>
          <a:xfrm>
            <a:off x="1150619" y="5029200"/>
            <a:ext cx="9890762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6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missing bridge is an operational way for occupants and buildings to investigate service relevance together.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45719" y="0"/>
            <a:ext cx="12100561" cy="765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</p:txBody>
      </p:sp>
      <p:grpSp>
        <p:nvGrpSpPr>
          <p:cNvPr id="54" name="Rectangle 1"/>
          <p:cNvGrpSpPr/>
          <p:nvPr/>
        </p:nvGrpSpPr>
        <p:grpSpPr>
          <a:xfrm>
            <a:off x="0" y="-1"/>
            <a:ext cx="12192000" cy="1047751"/>
            <a:chOff x="0" y="0"/>
            <a:chExt cx="12192000" cy="1047750"/>
          </a:xfrm>
        </p:grpSpPr>
        <p:sp>
          <p:nvSpPr>
            <p:cNvPr id="52" name="Rectangle"/>
            <p:cNvSpPr/>
            <p:nvPr/>
          </p:nvSpPr>
          <p:spPr>
            <a:xfrm>
              <a:off x="0" y="0"/>
              <a:ext cx="12192000" cy="1047750"/>
            </a:xfrm>
            <a:prstGeom prst="rect">
              <a:avLst/>
            </a:prstGeom>
            <a:solidFill>
              <a:srgbClr val="0F3B5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3" name="Listening smart-building requirements"/>
            <p:cNvSpPr txBox="1"/>
            <p:nvPr/>
          </p:nvSpPr>
          <p:spPr>
            <a:xfrm>
              <a:off x="45719" y="0"/>
              <a:ext cx="12100561" cy="7656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/>
            </a:p>
            <a:p>
              <a:pPr>
                <a:defRPr b="1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   </a:t>
              </a:r>
              <a:r>
                <a:t>Listening smart-building requirements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Rectangle 1"/>
          <p:cNvGrpSpPr/>
          <p:nvPr/>
        </p:nvGrpSpPr>
        <p:grpSpPr>
          <a:xfrm>
            <a:off x="0" y="-1"/>
            <a:ext cx="12192000" cy="1047751"/>
            <a:chOff x="0" y="0"/>
            <a:chExt cx="12192000" cy="1047750"/>
          </a:xfrm>
        </p:grpSpPr>
        <p:sp>
          <p:nvSpPr>
            <p:cNvPr id="58" name="Rectangle"/>
            <p:cNvSpPr/>
            <p:nvPr/>
          </p:nvSpPr>
          <p:spPr>
            <a:xfrm>
              <a:off x="0" y="0"/>
              <a:ext cx="12192000" cy="1047750"/>
            </a:xfrm>
            <a:prstGeom prst="rect">
              <a:avLst/>
            </a:prstGeom>
            <a:solidFill>
              <a:srgbClr val="0F3B5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9" name="Listening smart-building requirements"/>
            <p:cNvSpPr txBox="1"/>
            <p:nvPr/>
          </p:nvSpPr>
          <p:spPr>
            <a:xfrm>
              <a:off x="45719" y="0"/>
              <a:ext cx="12100562" cy="7656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/>
            </a:p>
            <a:p>
              <a:pPr>
                <a:defRPr b="1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Listening smart-building requirements</a:t>
              </a:r>
            </a:p>
          </p:txBody>
        </p:sp>
      </p:grpSp>
      <p:sp>
        <p:nvSpPr>
          <p:cNvPr id="61" name="A dwelling provides services to inhabitants.…"/>
          <p:cNvSpPr txBox="1"/>
          <p:nvPr>
            <p:ph type="body" idx="4294967295"/>
          </p:nvPr>
        </p:nvSpPr>
        <p:spPr>
          <a:xfrm>
            <a:off x="61967" y="1086107"/>
            <a:ext cx="12068066" cy="577189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r>
              <a:t>A dwelling provides services to inhabitants.</a:t>
            </a:r>
          </a:p>
          <a:p>
            <a:pPr>
              <a:lnSpc>
                <a:spcPct val="120000"/>
              </a:lnSpc>
            </a:pPr>
            <a:r>
              <a:t>In performant smart-buildings, a dwelling should provide smart-services supporting inhabitants in revealing how the needs match the services</a:t>
            </a:r>
          </a:p>
          <a:p>
            <a:pPr lvl="1" marL="685800" indent="-228600">
              <a:lnSpc>
                <a:spcPct val="120000"/>
              </a:lnSpc>
            </a:pPr>
            <a:r>
              <a:t>improve service efficiency: </a:t>
            </a:r>
          </a:p>
          <a:p>
            <a:pPr lvl="2" marL="1143000" indent="-228600">
              <a:lnSpc>
                <a:spcPct val="120000"/>
              </a:lnSpc>
            </a:pPr>
            <a:r>
              <a:t>do the energy costs required to the demanded service quality?</a:t>
            </a:r>
          </a:p>
          <a:p>
            <a:pPr lvl="1" marL="685800" indent="-228600">
              <a:lnSpc>
                <a:spcPct val="120000"/>
              </a:lnSpc>
            </a:pPr>
            <a:r>
              <a:t>overall sufficiency (well being)</a:t>
            </a:r>
          </a:p>
          <a:p>
            <a:pPr lvl="2" marL="1143000" indent="-228600">
              <a:lnSpc>
                <a:spcPct val="120000"/>
              </a:lnSpc>
            </a:pPr>
            <a:r>
              <a:t>do the services provided required for improving well-being?</a:t>
            </a:r>
          </a:p>
          <a:p>
            <a:pPr>
              <a:lnSpc>
                <a:spcPct val="120000"/>
              </a:lnSpc>
            </a:pPr>
            <a:r>
              <a:t>Therefore, smart-dwelling must perceive the needs of inhabitants: it's not only a matter of sensors and controls, human state of mind matters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24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5" name="Rectangle 3"/>
          <p:cNvSpPr txBox="1"/>
          <p:nvPr/>
        </p:nvSpPr>
        <p:spPr>
          <a:xfrm>
            <a:off x="922019" y="1409700"/>
            <a:ext cx="9624062" cy="476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86968">
              <a:defRPr b="1" sz="2134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listening smart-building helps occupants investigate domestic services</a:t>
            </a:r>
          </a:p>
        </p:txBody>
      </p:sp>
      <p:sp>
        <p:nvSpPr>
          <p:cNvPr id="66" name="Rounded Rectangle 4"/>
          <p:cNvSpPr/>
          <p:nvPr/>
        </p:nvSpPr>
        <p:spPr>
          <a:xfrm>
            <a:off x="781050" y="2333625"/>
            <a:ext cx="2333625" cy="2000250"/>
          </a:xfrm>
          <a:prstGeom prst="roundRect">
            <a:avLst>
              <a:gd name="adj" fmla="val 3810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Rectangle 5"/>
          <p:cNvSpPr/>
          <p:nvPr/>
        </p:nvSpPr>
        <p:spPr>
          <a:xfrm>
            <a:off x="781050" y="2333625"/>
            <a:ext cx="76200" cy="200025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Rectangle 6"/>
          <p:cNvSpPr txBox="1"/>
          <p:nvPr/>
        </p:nvSpPr>
        <p:spPr>
          <a:xfrm>
            <a:off x="1055369" y="2505075"/>
            <a:ext cx="1842137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4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Service sufficiency</a:t>
            </a:r>
          </a:p>
        </p:txBody>
      </p:sp>
      <p:sp>
        <p:nvSpPr>
          <p:cNvPr id="69" name="Rectangle 7"/>
          <p:cNvSpPr txBox="1"/>
          <p:nvPr/>
        </p:nvSpPr>
        <p:spPr>
          <a:xfrm>
            <a:off x="1055369" y="2943225"/>
            <a:ext cx="1842137" cy="1257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Which service was needed, useful, acceptable, or excessive in this situation?</a:t>
            </a:r>
          </a:p>
        </p:txBody>
      </p:sp>
      <p:sp>
        <p:nvSpPr>
          <p:cNvPr id="70" name="Rectangle 8"/>
          <p:cNvSpPr/>
          <p:nvPr/>
        </p:nvSpPr>
        <p:spPr>
          <a:xfrm>
            <a:off x="3114675" y="3333750"/>
            <a:ext cx="466725" cy="19050"/>
          </a:xfrm>
          <a:prstGeom prst="rect">
            <a:avLst/>
          </a:prstGeom>
          <a:solidFill>
            <a:srgbClr val="C8D5D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Rounded Rectangle 9"/>
          <p:cNvSpPr/>
          <p:nvPr/>
        </p:nvSpPr>
        <p:spPr>
          <a:xfrm>
            <a:off x="3581400" y="2333625"/>
            <a:ext cx="2333625" cy="2000250"/>
          </a:xfrm>
          <a:prstGeom prst="roundRect">
            <a:avLst>
              <a:gd name="adj" fmla="val 3810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Rectangle 10"/>
          <p:cNvSpPr/>
          <p:nvPr/>
        </p:nvSpPr>
        <p:spPr>
          <a:xfrm>
            <a:off x="3581400" y="2333625"/>
            <a:ext cx="76200" cy="200025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Rectangle 11"/>
          <p:cNvSpPr txBox="1"/>
          <p:nvPr/>
        </p:nvSpPr>
        <p:spPr>
          <a:xfrm>
            <a:off x="3855719" y="2505075"/>
            <a:ext cx="1842137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Situated inquiry</a:t>
            </a:r>
          </a:p>
        </p:txBody>
      </p:sp>
      <p:sp>
        <p:nvSpPr>
          <p:cNvPr id="74" name="Rectangle 12"/>
          <p:cNvSpPr txBox="1"/>
          <p:nvPr/>
        </p:nvSpPr>
        <p:spPr>
          <a:xfrm>
            <a:off x="3855719" y="2943225"/>
            <a:ext cx="1842137" cy="1257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Occupants connect measured traces with lived reasons, constraints, and meanings.</a:t>
            </a:r>
          </a:p>
        </p:txBody>
      </p:sp>
      <p:sp>
        <p:nvSpPr>
          <p:cNvPr id="75" name="Rectangle 13"/>
          <p:cNvSpPr/>
          <p:nvPr/>
        </p:nvSpPr>
        <p:spPr>
          <a:xfrm>
            <a:off x="5915025" y="3333750"/>
            <a:ext cx="466725" cy="19050"/>
          </a:xfrm>
          <a:prstGeom prst="rect">
            <a:avLst/>
          </a:prstGeom>
          <a:solidFill>
            <a:srgbClr val="C8D5D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Rounded Rectangle 14"/>
          <p:cNvSpPr/>
          <p:nvPr/>
        </p:nvSpPr>
        <p:spPr>
          <a:xfrm>
            <a:off x="6381750" y="2333625"/>
            <a:ext cx="2333625" cy="2000250"/>
          </a:xfrm>
          <a:prstGeom prst="roundRect">
            <a:avLst>
              <a:gd name="adj" fmla="val 3810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Rectangle 15"/>
          <p:cNvSpPr/>
          <p:nvPr/>
        </p:nvSpPr>
        <p:spPr>
          <a:xfrm>
            <a:off x="6381750" y="2333625"/>
            <a:ext cx="76200" cy="200025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Rectangle 16"/>
          <p:cNvSpPr txBox="1"/>
          <p:nvPr/>
        </p:nvSpPr>
        <p:spPr>
          <a:xfrm>
            <a:off x="6656069" y="2505075"/>
            <a:ext cx="1842137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80000"/>
              </a:lnSpc>
              <a:defRPr b="1" sz="10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User-defined experiments</a:t>
            </a:r>
          </a:p>
        </p:txBody>
      </p:sp>
      <p:sp>
        <p:nvSpPr>
          <p:cNvPr id="79" name="Rectangle 17"/>
          <p:cNvSpPr txBox="1"/>
          <p:nvPr/>
        </p:nvSpPr>
        <p:spPr>
          <a:xfrm>
            <a:off x="6656069" y="2943225"/>
            <a:ext cx="1842137" cy="1257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question selects the sensors, annotation scope, and listening period.</a:t>
            </a:r>
          </a:p>
        </p:txBody>
      </p:sp>
      <p:sp>
        <p:nvSpPr>
          <p:cNvPr id="80" name="Rectangle 18"/>
          <p:cNvSpPr/>
          <p:nvPr/>
        </p:nvSpPr>
        <p:spPr>
          <a:xfrm>
            <a:off x="8715375" y="3333750"/>
            <a:ext cx="466725" cy="19050"/>
          </a:xfrm>
          <a:prstGeom prst="rect">
            <a:avLst/>
          </a:prstGeom>
          <a:solidFill>
            <a:srgbClr val="C8D5D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Rounded Rectangle 19"/>
          <p:cNvSpPr/>
          <p:nvPr/>
        </p:nvSpPr>
        <p:spPr>
          <a:xfrm>
            <a:off x="9182100" y="2333625"/>
            <a:ext cx="2333625" cy="2000250"/>
          </a:xfrm>
          <a:prstGeom prst="roundRect">
            <a:avLst>
              <a:gd name="adj" fmla="val 3810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Rectangle 20"/>
          <p:cNvSpPr/>
          <p:nvPr/>
        </p:nvSpPr>
        <p:spPr>
          <a:xfrm>
            <a:off x="9182100" y="2333625"/>
            <a:ext cx="76200" cy="200025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Rectangle 21"/>
          <p:cNvSpPr txBox="1"/>
          <p:nvPr/>
        </p:nvSpPr>
        <p:spPr>
          <a:xfrm>
            <a:off x="9456419" y="2505075"/>
            <a:ext cx="1842137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4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AnnoBot prototype</a:t>
            </a:r>
          </a:p>
        </p:txBody>
      </p:sp>
      <p:sp>
        <p:nvSpPr>
          <p:cNvPr id="84" name="Rectangle 22"/>
          <p:cNvSpPr txBox="1"/>
          <p:nvPr/>
        </p:nvSpPr>
        <p:spPr>
          <a:xfrm>
            <a:off x="9456419" y="2943225"/>
            <a:ext cx="1842137" cy="1257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current system implements selected parts of the annotation and interaction workflow.</a:t>
            </a:r>
          </a:p>
        </p:txBody>
      </p:sp>
      <p:sp>
        <p:nvSpPr>
          <p:cNvPr id="85" name="Rectangle 23"/>
          <p:cNvSpPr txBox="1"/>
          <p:nvPr/>
        </p:nvSpPr>
        <p:spPr>
          <a:xfrm>
            <a:off x="1036319" y="5124450"/>
            <a:ext cx="10081262" cy="5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6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implementation should therefore support a loop: observe, annotate, interpret, experiment, revise.</a:t>
            </a:r>
          </a:p>
        </p:txBody>
      </p:sp>
      <p:grpSp>
        <p:nvGrpSpPr>
          <p:cNvPr id="88" name="Rectangle 1"/>
          <p:cNvGrpSpPr/>
          <p:nvPr/>
        </p:nvGrpSpPr>
        <p:grpSpPr>
          <a:xfrm>
            <a:off x="0" y="-1"/>
            <a:ext cx="12192000" cy="1047751"/>
            <a:chOff x="0" y="0"/>
            <a:chExt cx="12192000" cy="1047750"/>
          </a:xfrm>
        </p:grpSpPr>
        <p:sp>
          <p:nvSpPr>
            <p:cNvPr id="86" name="Rectangle"/>
            <p:cNvSpPr/>
            <p:nvPr/>
          </p:nvSpPr>
          <p:spPr>
            <a:xfrm>
              <a:off x="0" y="0"/>
              <a:ext cx="12192000" cy="1047750"/>
            </a:xfrm>
            <a:prstGeom prst="rect">
              <a:avLst/>
            </a:prstGeom>
            <a:solidFill>
              <a:srgbClr val="0F3B5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" name="Why it can cope with sufficiency"/>
            <p:cNvSpPr txBox="1"/>
            <p:nvPr/>
          </p:nvSpPr>
          <p:spPr>
            <a:xfrm>
              <a:off x="45719" y="0"/>
              <a:ext cx="12100561" cy="7656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/>
            </a:p>
            <a:p>
              <a:pPr>
                <a:defRPr b="1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  Why it can cope with sufficiency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5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Dealing with service sufficiency</a:t>
            </a:r>
          </a:p>
        </p:txBody>
      </p:sp>
      <p:sp>
        <p:nvSpPr>
          <p:cNvPr id="94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5" name="Rectangle 3"/>
          <p:cNvSpPr txBox="1"/>
          <p:nvPr/>
        </p:nvSpPr>
        <p:spPr>
          <a:xfrm>
            <a:off x="941069" y="1333500"/>
            <a:ext cx="10271762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80000"/>
              </a:lnSpc>
              <a:defRPr b="1" sz="20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domestic service is sufficient when occupants judge it useful, proportionate, timely, and acceptable in context.</a:t>
            </a:r>
          </a:p>
        </p:txBody>
      </p:sp>
      <p:sp>
        <p:nvSpPr>
          <p:cNvPr id="96" name="Oval 4"/>
          <p:cNvSpPr/>
          <p:nvPr/>
        </p:nvSpPr>
        <p:spPr>
          <a:xfrm>
            <a:off x="2571750" y="2571750"/>
            <a:ext cx="2552700" cy="1123950"/>
          </a:xfrm>
          <a:prstGeom prst="ellipse">
            <a:avLst/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Rectangle 5"/>
          <p:cNvSpPr txBox="1"/>
          <p:nvPr/>
        </p:nvSpPr>
        <p:spPr>
          <a:xfrm>
            <a:off x="2827019" y="2933700"/>
            <a:ext cx="20421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80000"/>
              </a:lnSpc>
              <a:defRPr b="1" sz="16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Useful</a:t>
            </a:r>
          </a:p>
        </p:txBody>
      </p:sp>
      <p:sp>
        <p:nvSpPr>
          <p:cNvPr id="98" name="Oval 6"/>
          <p:cNvSpPr/>
          <p:nvPr/>
        </p:nvSpPr>
        <p:spPr>
          <a:xfrm>
            <a:off x="7067550" y="2571750"/>
            <a:ext cx="2552700" cy="1123950"/>
          </a:xfrm>
          <a:prstGeom prst="ellipse">
            <a:avLst/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Rectangle 7"/>
          <p:cNvSpPr txBox="1"/>
          <p:nvPr/>
        </p:nvSpPr>
        <p:spPr>
          <a:xfrm>
            <a:off x="7322819" y="2933700"/>
            <a:ext cx="20421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80000"/>
              </a:lnSpc>
              <a:defRPr b="1" sz="16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Proportionate</a:t>
            </a:r>
          </a:p>
        </p:txBody>
      </p:sp>
      <p:sp>
        <p:nvSpPr>
          <p:cNvPr id="100" name="Oval 8"/>
          <p:cNvSpPr/>
          <p:nvPr/>
        </p:nvSpPr>
        <p:spPr>
          <a:xfrm>
            <a:off x="2571750" y="4495800"/>
            <a:ext cx="2552700" cy="1123950"/>
          </a:xfrm>
          <a:prstGeom prst="ellipse">
            <a:avLst/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Rectangle 9"/>
          <p:cNvSpPr txBox="1"/>
          <p:nvPr/>
        </p:nvSpPr>
        <p:spPr>
          <a:xfrm>
            <a:off x="2827019" y="4857750"/>
            <a:ext cx="20421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80000"/>
              </a:lnSpc>
              <a:defRPr b="1" sz="16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Timely</a:t>
            </a:r>
          </a:p>
        </p:txBody>
      </p:sp>
      <p:sp>
        <p:nvSpPr>
          <p:cNvPr id="102" name="Oval 10"/>
          <p:cNvSpPr/>
          <p:nvPr/>
        </p:nvSpPr>
        <p:spPr>
          <a:xfrm>
            <a:off x="7067550" y="4495800"/>
            <a:ext cx="2552700" cy="1123950"/>
          </a:xfrm>
          <a:prstGeom prst="ellipse">
            <a:avLst/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Rectangle 11"/>
          <p:cNvSpPr txBox="1"/>
          <p:nvPr/>
        </p:nvSpPr>
        <p:spPr>
          <a:xfrm>
            <a:off x="7322819" y="4857750"/>
            <a:ext cx="20421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80000"/>
              </a:lnSpc>
              <a:defRPr b="1" sz="16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Acceptable</a:t>
            </a:r>
          </a:p>
        </p:txBody>
      </p:sp>
      <p:sp>
        <p:nvSpPr>
          <p:cNvPr id="104" name="Oval 12"/>
          <p:cNvSpPr/>
          <p:nvPr/>
        </p:nvSpPr>
        <p:spPr>
          <a:xfrm>
            <a:off x="4610099" y="3281601"/>
            <a:ext cx="2933701" cy="163830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3B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Rectangle 13"/>
          <p:cNvSpPr txBox="1"/>
          <p:nvPr/>
        </p:nvSpPr>
        <p:spPr>
          <a:xfrm>
            <a:off x="4941570" y="3938826"/>
            <a:ext cx="2308861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80000"/>
              </a:lnSpc>
              <a:defRPr b="1" sz="15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Sufficient Service</a:t>
            </a:r>
          </a:p>
        </p:txBody>
      </p:sp>
      <p:sp>
        <p:nvSpPr>
          <p:cNvPr id="106" name="Rectangle 14"/>
          <p:cNvSpPr txBox="1"/>
          <p:nvPr/>
        </p:nvSpPr>
        <p:spPr>
          <a:xfrm>
            <a:off x="1798319" y="5867400"/>
            <a:ext cx="85953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sz="14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Example: a dishwasher cycle within a routine, constraint, and desired result</a:t>
            </a:r>
          </a:p>
        </p:txBody>
      </p:sp>
      <p:grpSp>
        <p:nvGrpSpPr>
          <p:cNvPr id="109" name="Rectangle 1"/>
          <p:cNvGrpSpPr/>
          <p:nvPr/>
        </p:nvGrpSpPr>
        <p:grpSpPr>
          <a:xfrm>
            <a:off x="0" y="-1"/>
            <a:ext cx="12192000" cy="1047751"/>
            <a:chOff x="0" y="0"/>
            <a:chExt cx="12192000" cy="1047750"/>
          </a:xfrm>
        </p:grpSpPr>
        <p:sp>
          <p:nvSpPr>
            <p:cNvPr id="107" name="Rectangle"/>
            <p:cNvSpPr/>
            <p:nvPr/>
          </p:nvSpPr>
          <p:spPr>
            <a:xfrm>
              <a:off x="0" y="0"/>
              <a:ext cx="12192000" cy="1047750"/>
            </a:xfrm>
            <a:prstGeom prst="rect">
              <a:avLst/>
            </a:prstGeom>
            <a:solidFill>
              <a:srgbClr val="0F3B5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8" name="Why it can cope with sufficiency"/>
            <p:cNvSpPr txBox="1"/>
            <p:nvPr/>
          </p:nvSpPr>
          <p:spPr>
            <a:xfrm>
              <a:off x="45719" y="0"/>
              <a:ext cx="12100561" cy="7656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/>
            </a:p>
            <a:p>
              <a:pPr>
                <a:defRPr b="1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  Why it can cope with sufficiency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Rectangle 1"/>
          <p:cNvGrpSpPr/>
          <p:nvPr/>
        </p:nvGrpSpPr>
        <p:grpSpPr>
          <a:xfrm>
            <a:off x="0" y="-1"/>
            <a:ext cx="12192000" cy="1047751"/>
            <a:chOff x="0" y="0"/>
            <a:chExt cx="12192000" cy="1047750"/>
          </a:xfrm>
        </p:grpSpPr>
        <p:sp>
          <p:nvSpPr>
            <p:cNvPr id="113" name="Rectangle"/>
            <p:cNvSpPr/>
            <p:nvPr/>
          </p:nvSpPr>
          <p:spPr>
            <a:xfrm>
              <a:off x="0" y="0"/>
              <a:ext cx="12192000" cy="1047750"/>
            </a:xfrm>
            <a:prstGeom prst="rect">
              <a:avLst/>
            </a:prstGeom>
            <a:solidFill>
              <a:srgbClr val="0F3B5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4" name="Why annotations are mandatory"/>
            <p:cNvSpPr txBox="1"/>
            <p:nvPr/>
          </p:nvSpPr>
          <p:spPr>
            <a:xfrm>
              <a:off x="45719" y="0"/>
              <a:ext cx="12100561" cy="7656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/>
            </a:p>
            <a:p>
              <a:pPr>
                <a:defRPr b="1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   Why annotations are mandatory</a:t>
              </a:r>
            </a:p>
          </p:txBody>
        </p:sp>
      </p:grpSp>
      <p:sp>
        <p:nvSpPr>
          <p:cNvPr id="116" name="Human state of mind must be collected thanks to annotations…"/>
          <p:cNvSpPr txBox="1"/>
          <p:nvPr>
            <p:ph type="body" idx="4294967295"/>
          </p:nvPr>
        </p:nvSpPr>
        <p:spPr>
          <a:xfrm>
            <a:off x="61967" y="1086107"/>
            <a:ext cx="12068066" cy="577189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r>
              <a:t>Human state of mind must be collected thanks to annotations</a:t>
            </a:r>
          </a:p>
          <a:p>
            <a:pPr lvl="1" marL="685800" indent="-228600">
              <a:lnSpc>
                <a:spcPct val="120000"/>
              </a:lnSpc>
            </a:pPr>
            <a:r>
              <a:t>beliefs</a:t>
            </a:r>
          </a:p>
          <a:p>
            <a:pPr lvl="1" marL="685800" indent="-228600">
              <a:lnSpc>
                <a:spcPct val="120000"/>
              </a:lnSpc>
            </a:pPr>
            <a:r>
              <a:t>desires</a:t>
            </a:r>
          </a:p>
          <a:p>
            <a:pPr lvl="1" marL="685800" indent="-228600">
              <a:lnSpc>
                <a:spcPct val="120000"/>
              </a:lnSpc>
            </a:pPr>
            <a:r>
              <a:t>intentions</a:t>
            </a:r>
          </a:p>
          <a:p>
            <a:pPr lvl="1" marL="685800" indent="-228600">
              <a:lnSpc>
                <a:spcPct val="120000"/>
              </a:lnSpc>
            </a:pPr>
            <a:r>
              <a:t>activities</a:t>
            </a:r>
          </a:p>
          <a:p>
            <a:pPr lvl="1" marL="685800" indent="-228600">
              <a:lnSpc>
                <a:spcPct val="120000"/>
              </a:lnSpc>
            </a:pPr>
            <a:r>
              <a:t>deliberations</a:t>
            </a:r>
          </a:p>
          <a:p>
            <a:pPr lvl="1" marL="685800" indent="-228600">
              <a:lnSpc>
                <a:spcPct val="120000"/>
              </a:lnSpc>
            </a:pPr>
            <a:r>
              <a:t>context: who, what, when, why, where, how</a:t>
            </a:r>
          </a:p>
          <a:p>
            <a:pPr>
              <a:lnSpc>
                <a:spcPct val="120000"/>
              </a:lnSpc>
            </a:pPr>
            <a:r>
              <a:t>An annotation is a piece of text related to an instant (or possibly to a time period)</a:t>
            </a:r>
          </a:p>
          <a:p>
            <a:pPr lvl="1" marL="0" indent="228600">
              <a:lnSpc>
                <a:spcPct val="120000"/>
              </a:lnSpc>
              <a:buSzTx/>
              <a:buNone/>
            </a:pPr>
            <a:r>
              <a:t>annotation = &lt;meaningful text, time, duration&gt;</a:t>
            </a:r>
          </a:p>
        </p:txBody>
      </p:sp>
      <p:pic>
        <p:nvPicPr>
          <p:cNvPr id="117" name="shopping.jpeg" descr="shopping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27233" y="2691002"/>
            <a:ext cx="1047751" cy="1047751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Rectangle"/>
          <p:cNvSpPr/>
          <p:nvPr/>
        </p:nvSpPr>
        <p:spPr>
          <a:xfrm>
            <a:off x="5216108" y="2579877"/>
            <a:ext cx="5339272" cy="1270001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19" name="annotation is not labelling:…"/>
          <p:cNvSpPr txBox="1"/>
          <p:nvPr/>
        </p:nvSpPr>
        <p:spPr>
          <a:xfrm>
            <a:off x="6518759" y="2610357"/>
            <a:ext cx="3893677" cy="1209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annotation is not labelling:</a:t>
            </a:r>
          </a:p>
          <a:p>
            <a:pPr/>
            <a:r>
              <a:t>annotations are considered as input data</a:t>
            </a:r>
          </a:p>
          <a:p>
            <a:pPr/>
            <a:r>
              <a:t>whereas labels stands for output data in</a:t>
            </a:r>
          </a:p>
          <a:p>
            <a:pPr/>
            <a:r>
              <a:t>machine learning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24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 it is inclusive</a:t>
            </a:r>
          </a:p>
        </p:txBody>
      </p:sp>
      <p:sp>
        <p:nvSpPr>
          <p:cNvPr id="123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4" name="Rectangle 3"/>
          <p:cNvSpPr txBox="1"/>
          <p:nvPr/>
        </p:nvSpPr>
        <p:spPr>
          <a:xfrm>
            <a:off x="922019" y="1295400"/>
            <a:ext cx="102717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building provides decision support. Occupants remain legitimate interpreters of their own needs.</a:t>
            </a:r>
          </a:p>
        </p:txBody>
      </p:sp>
      <p:sp>
        <p:nvSpPr>
          <p:cNvPr id="125" name="Rectangle 4"/>
          <p:cNvSpPr txBox="1"/>
          <p:nvPr/>
        </p:nvSpPr>
        <p:spPr>
          <a:xfrm>
            <a:off x="1245869" y="2286000"/>
            <a:ext cx="39090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80000"/>
              </a:lnSpc>
              <a:defRPr b="1" sz="1500">
                <a:solidFill>
                  <a:srgbClr val="39A96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Conceptual requirement</a:t>
            </a:r>
          </a:p>
        </p:txBody>
      </p:sp>
      <p:sp>
        <p:nvSpPr>
          <p:cNvPr id="126" name="Rounded Rectangle 5"/>
          <p:cNvSpPr/>
          <p:nvPr/>
        </p:nvSpPr>
        <p:spPr>
          <a:xfrm>
            <a:off x="1028700" y="2800350"/>
            <a:ext cx="4476750" cy="609600"/>
          </a:xfrm>
          <a:prstGeom prst="roundRect">
            <a:avLst>
              <a:gd name="adj" fmla="val 12500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Rectangle 6"/>
          <p:cNvSpPr/>
          <p:nvPr/>
        </p:nvSpPr>
        <p:spPr>
          <a:xfrm>
            <a:off x="1028700" y="2800350"/>
            <a:ext cx="76200" cy="60960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Rectangle 7"/>
          <p:cNvSpPr txBox="1"/>
          <p:nvPr/>
        </p:nvSpPr>
        <p:spPr>
          <a:xfrm>
            <a:off x="1303019" y="2933700"/>
            <a:ext cx="3985262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Starts from services, not consumption alone</a:t>
            </a:r>
          </a:p>
        </p:txBody>
      </p:sp>
      <p:sp>
        <p:nvSpPr>
          <p:cNvPr id="129" name="Rounded Rectangle 8"/>
          <p:cNvSpPr/>
          <p:nvPr/>
        </p:nvSpPr>
        <p:spPr>
          <a:xfrm>
            <a:off x="1028700" y="3609975"/>
            <a:ext cx="4476750" cy="609600"/>
          </a:xfrm>
          <a:prstGeom prst="roundRect">
            <a:avLst>
              <a:gd name="adj" fmla="val 12500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Rectangle 9"/>
          <p:cNvSpPr/>
          <p:nvPr/>
        </p:nvSpPr>
        <p:spPr>
          <a:xfrm>
            <a:off x="1028700" y="3609975"/>
            <a:ext cx="76200" cy="60960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Rectangle 10"/>
          <p:cNvSpPr txBox="1"/>
          <p:nvPr/>
        </p:nvSpPr>
        <p:spPr>
          <a:xfrm>
            <a:off x="1303019" y="3743325"/>
            <a:ext cx="3985262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1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Treats measurements as traces requiring interpretation</a:t>
            </a:r>
          </a:p>
        </p:txBody>
      </p:sp>
      <p:sp>
        <p:nvSpPr>
          <p:cNvPr id="132" name="Rounded Rectangle 11"/>
          <p:cNvSpPr/>
          <p:nvPr/>
        </p:nvSpPr>
        <p:spPr>
          <a:xfrm>
            <a:off x="1028700" y="4419600"/>
            <a:ext cx="4476750" cy="609600"/>
          </a:xfrm>
          <a:prstGeom prst="roundRect">
            <a:avLst>
              <a:gd name="adj" fmla="val 12500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Rectangle 12"/>
          <p:cNvSpPr/>
          <p:nvPr/>
        </p:nvSpPr>
        <p:spPr>
          <a:xfrm>
            <a:off x="1028700" y="4419600"/>
            <a:ext cx="76200" cy="60960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Rectangle 13"/>
          <p:cNvSpPr txBox="1"/>
          <p:nvPr/>
        </p:nvSpPr>
        <p:spPr>
          <a:xfrm>
            <a:off x="1303019" y="4552950"/>
            <a:ext cx="3985262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Asks only when human meaning has high value</a:t>
            </a:r>
          </a:p>
        </p:txBody>
      </p:sp>
      <p:sp>
        <p:nvSpPr>
          <p:cNvPr id="135" name="Rectangle 14"/>
          <p:cNvSpPr txBox="1"/>
          <p:nvPr/>
        </p:nvSpPr>
        <p:spPr>
          <a:xfrm>
            <a:off x="6979919" y="2286000"/>
            <a:ext cx="39090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80000"/>
              </a:lnSpc>
              <a:defRPr b="1" sz="1500">
                <a:solidFill>
                  <a:srgbClr val="1F77B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Design implication</a:t>
            </a:r>
          </a:p>
        </p:txBody>
      </p:sp>
      <p:sp>
        <p:nvSpPr>
          <p:cNvPr id="136" name="Rounded Rectangle 15"/>
          <p:cNvSpPr/>
          <p:nvPr/>
        </p:nvSpPr>
        <p:spPr>
          <a:xfrm>
            <a:off x="6572250" y="2800350"/>
            <a:ext cx="4476750" cy="609600"/>
          </a:xfrm>
          <a:prstGeom prst="roundRect">
            <a:avLst>
              <a:gd name="adj" fmla="val 12500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Rectangle 16"/>
          <p:cNvSpPr/>
          <p:nvPr/>
        </p:nvSpPr>
        <p:spPr>
          <a:xfrm>
            <a:off x="6572250" y="2800350"/>
            <a:ext cx="76200" cy="60960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Rectangle 17"/>
          <p:cNvSpPr txBox="1"/>
          <p:nvPr/>
        </p:nvSpPr>
        <p:spPr>
          <a:xfrm>
            <a:off x="6846569" y="2933700"/>
            <a:ext cx="3985262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Frames suggestions as hypotheses to test</a:t>
            </a:r>
          </a:p>
        </p:txBody>
      </p:sp>
      <p:sp>
        <p:nvSpPr>
          <p:cNvPr id="139" name="Rounded Rectangle 18"/>
          <p:cNvSpPr/>
          <p:nvPr/>
        </p:nvSpPr>
        <p:spPr>
          <a:xfrm>
            <a:off x="6572250" y="3609975"/>
            <a:ext cx="4476750" cy="609600"/>
          </a:xfrm>
          <a:prstGeom prst="roundRect">
            <a:avLst>
              <a:gd name="adj" fmla="val 12500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Rectangle 19"/>
          <p:cNvSpPr/>
          <p:nvPr/>
        </p:nvSpPr>
        <p:spPr>
          <a:xfrm>
            <a:off x="6572250" y="3609975"/>
            <a:ext cx="76200" cy="60960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Rectangle 20"/>
          <p:cNvSpPr txBox="1"/>
          <p:nvPr/>
        </p:nvSpPr>
        <p:spPr>
          <a:xfrm>
            <a:off x="6846569" y="3743325"/>
            <a:ext cx="3985262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Shows delayed and indirect effects</a:t>
            </a:r>
          </a:p>
        </p:txBody>
      </p:sp>
      <p:sp>
        <p:nvSpPr>
          <p:cNvPr id="142" name="Rounded Rectangle 21"/>
          <p:cNvSpPr/>
          <p:nvPr/>
        </p:nvSpPr>
        <p:spPr>
          <a:xfrm>
            <a:off x="6572250" y="4419600"/>
            <a:ext cx="4476750" cy="609600"/>
          </a:xfrm>
          <a:prstGeom prst="roundRect">
            <a:avLst>
              <a:gd name="adj" fmla="val 12500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Rectangle 22"/>
          <p:cNvSpPr/>
          <p:nvPr/>
        </p:nvSpPr>
        <p:spPr>
          <a:xfrm>
            <a:off x="6572250" y="4419600"/>
            <a:ext cx="76200" cy="60960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Rectangle 23"/>
          <p:cNvSpPr txBox="1"/>
          <p:nvPr/>
        </p:nvSpPr>
        <p:spPr>
          <a:xfrm>
            <a:off x="6846569" y="4552950"/>
            <a:ext cx="3985262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Supports autonomy without defining one good life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Rectangle 1"/>
          <p:cNvGrpSpPr/>
          <p:nvPr/>
        </p:nvGrpSpPr>
        <p:grpSpPr>
          <a:xfrm>
            <a:off x="0" y="-1"/>
            <a:ext cx="12192000" cy="1047751"/>
            <a:chOff x="0" y="0"/>
            <a:chExt cx="12192000" cy="1047750"/>
          </a:xfrm>
        </p:grpSpPr>
        <p:sp>
          <p:nvSpPr>
            <p:cNvPr id="148" name="Rectangle"/>
            <p:cNvSpPr/>
            <p:nvPr/>
          </p:nvSpPr>
          <p:spPr>
            <a:xfrm>
              <a:off x="0" y="0"/>
              <a:ext cx="12192000" cy="1047750"/>
            </a:xfrm>
            <a:prstGeom prst="rect">
              <a:avLst/>
            </a:prstGeom>
            <a:solidFill>
              <a:srgbClr val="0F3B5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9" name="Why experimenting?"/>
            <p:cNvSpPr txBox="1"/>
            <p:nvPr/>
          </p:nvSpPr>
          <p:spPr>
            <a:xfrm>
              <a:off x="45719" y="0"/>
              <a:ext cx="12100561" cy="7656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/>
            </a:p>
            <a:p>
              <a:pPr>
                <a:defRPr b="1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  Why experimenting?</a:t>
              </a:r>
            </a:p>
          </p:txBody>
        </p:sp>
      </p:grpSp>
      <p:sp>
        <p:nvSpPr>
          <p:cNvPr id="151" name="It's complex to improve all the services in parallel…"/>
          <p:cNvSpPr txBox="1"/>
          <p:nvPr>
            <p:ph type="body" idx="4294967295"/>
          </p:nvPr>
        </p:nvSpPr>
        <p:spPr>
          <a:xfrm>
            <a:off x="61967" y="1086107"/>
            <a:ext cx="12068066" cy="577189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t>It's complex to improve all the services in parallel</a:t>
            </a:r>
          </a:p>
          <a:p>
            <a:pPr>
              <a:lnSpc>
                <a:spcPct val="100000"/>
              </a:lnSpc>
            </a:pPr>
            <a:r>
              <a:t>It's easier when services come into the focus one after the other</a:t>
            </a:r>
          </a:p>
          <a:p>
            <a:pPr>
              <a:lnSpc>
                <a:spcPct val="100000"/>
              </a:lnSpc>
            </a:pPr>
            <a:r>
              <a:t>Here come the concept of </a:t>
            </a:r>
            <a:r>
              <a:rPr u="sng"/>
              <a:t>experiment</a:t>
            </a:r>
            <a:endParaRPr u="sng"/>
          </a:p>
          <a:p>
            <a:pPr lvl="1" marL="685800" indent="-228600">
              <a:lnSpc>
                <a:spcPct val="100000"/>
              </a:lnSpc>
            </a:pPr>
            <a:r>
              <a:t>it structures the inquiry</a:t>
            </a:r>
          </a:p>
          <a:p>
            <a:pPr lvl="1" marL="685800" indent="-228600">
              <a:lnSpc>
                <a:spcPct val="100000"/>
              </a:lnSpc>
            </a:pPr>
            <a:r>
              <a:t>it is implicitly or explicitly related to a question related to a service (Q)</a:t>
            </a:r>
          </a:p>
          <a:p>
            <a:pPr lvl="1" marL="685800" indent="-228600">
              <a:lnSpc>
                <a:spcPct val="100000"/>
              </a:lnSpc>
            </a:pPr>
            <a:r>
              <a:t>it specifies the meaningful sensors for the considered service (S)</a:t>
            </a:r>
          </a:p>
          <a:p>
            <a:pPr lvl="1" marL="685800" indent="-228600">
              <a:lnSpc>
                <a:spcPct val="100000"/>
              </a:lnSpc>
            </a:pPr>
            <a:r>
              <a:t>it specifies the indicators that can be plotted (I)</a:t>
            </a:r>
          </a:p>
          <a:p>
            <a:pPr lvl="1" marL="685800" indent="-228600">
              <a:lnSpc>
                <a:spcPct val="100000"/>
              </a:lnSpc>
            </a:pPr>
            <a:r>
              <a:t>it contains the description of how to detect a service or a case (D)</a:t>
            </a:r>
          </a:p>
          <a:p>
            <a:pPr lvl="2" marL="1143000" indent="-228600">
              <a:lnSpc>
                <a:spcPct val="100000"/>
              </a:lnSpc>
            </a:pPr>
            <a:r>
              <a:t>they can be temporary (with cycle) and permanent (daily cycle)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Rectangle 1"/>
          <p:cNvGrpSpPr/>
          <p:nvPr/>
        </p:nvGrpSpPr>
        <p:grpSpPr>
          <a:xfrm>
            <a:off x="0" y="-1"/>
            <a:ext cx="12192000" cy="1047751"/>
            <a:chOff x="0" y="0"/>
            <a:chExt cx="12192000" cy="1047750"/>
          </a:xfrm>
        </p:grpSpPr>
        <p:sp>
          <p:nvSpPr>
            <p:cNvPr id="153" name="Rectangle"/>
            <p:cNvSpPr/>
            <p:nvPr/>
          </p:nvSpPr>
          <p:spPr>
            <a:xfrm>
              <a:off x="0" y="0"/>
              <a:ext cx="12192000" cy="1047750"/>
            </a:xfrm>
            <a:prstGeom prst="rect">
              <a:avLst/>
            </a:prstGeom>
            <a:solidFill>
              <a:srgbClr val="0F3B5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4" name="Why experimenting?"/>
            <p:cNvSpPr txBox="1"/>
            <p:nvPr/>
          </p:nvSpPr>
          <p:spPr>
            <a:xfrm>
              <a:off x="45719" y="0"/>
              <a:ext cx="12100561" cy="7656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/>
            </a:p>
            <a:p>
              <a:pPr>
                <a:defRPr b="1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  Why experimenting?</a:t>
              </a:r>
            </a:p>
          </p:txBody>
        </p:sp>
      </p:grpSp>
      <p:pic>
        <p:nvPicPr>
          <p:cNvPr id="15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39649" y="2568844"/>
            <a:ext cx="6861634" cy="4162261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temporary services can be detected thanks to the power consumption: min and max possible durations, min and max cycle energy, max break time and min power. It is specific to a type of service appliance"/>
          <p:cNvSpPr txBox="1"/>
          <p:nvPr>
            <p:ph type="body" idx="4294967295"/>
          </p:nvPr>
        </p:nvSpPr>
        <p:spPr>
          <a:xfrm>
            <a:off x="61967" y="1031083"/>
            <a:ext cx="12068066" cy="57718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</a:lvl1pPr>
          </a:lstStyle>
          <a:p>
            <a:pPr/>
            <a:r>
              <a:t>temporary services can be detected thanks to the power consumption: min and max possible durations, min and max cycle energy, max break time and min power. It is specific to a type of service appliance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8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Rectangle 1"/>
          <p:cNvSpPr txBox="1"/>
          <p:nvPr/>
        </p:nvSpPr>
        <p:spPr>
          <a:xfrm>
            <a:off x="344966" y="247649"/>
            <a:ext cx="10243186" cy="552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 experimenting?</a:t>
            </a:r>
          </a:p>
        </p:txBody>
      </p:sp>
      <p:sp>
        <p:nvSpPr>
          <p:cNvPr id="161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62" name="Rectangle 3"/>
          <p:cNvSpPr txBox="1"/>
          <p:nvPr/>
        </p:nvSpPr>
        <p:spPr>
          <a:xfrm>
            <a:off x="922019" y="1314450"/>
            <a:ext cx="10386062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80000"/>
              </a:lnSpc>
              <a:defRPr b="1" sz="16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 occupant experiment couples a question with selected sensors and a temporal horizon.</a:t>
            </a:r>
          </a:p>
        </p:txBody>
      </p:sp>
      <p:sp>
        <p:nvSpPr>
          <p:cNvPr id="163" name="Rectangle 4"/>
          <p:cNvSpPr txBox="1"/>
          <p:nvPr/>
        </p:nvSpPr>
        <p:spPr>
          <a:xfrm>
            <a:off x="4160519" y="2095500"/>
            <a:ext cx="3870962" cy="590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31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 = &lt; Q, S, I, D &gt;</a:t>
            </a:r>
          </a:p>
        </p:txBody>
      </p:sp>
      <p:sp>
        <p:nvSpPr>
          <p:cNvPr id="164" name="Rounded Rectangle 5"/>
          <p:cNvSpPr/>
          <p:nvPr/>
        </p:nvSpPr>
        <p:spPr>
          <a:xfrm>
            <a:off x="224061" y="3143250"/>
            <a:ext cx="2391901" cy="1619251"/>
          </a:xfrm>
          <a:prstGeom prst="roundRect">
            <a:avLst>
              <a:gd name="adj" fmla="val 4706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Rectangle 6"/>
          <p:cNvSpPr/>
          <p:nvPr/>
        </p:nvSpPr>
        <p:spPr>
          <a:xfrm>
            <a:off x="224061" y="3143250"/>
            <a:ext cx="76201" cy="1619251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Rectangle 7"/>
          <p:cNvSpPr txBox="1"/>
          <p:nvPr/>
        </p:nvSpPr>
        <p:spPr>
          <a:xfrm>
            <a:off x="357541" y="3314699"/>
            <a:ext cx="2556511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Q: Question</a:t>
            </a:r>
          </a:p>
        </p:txBody>
      </p:sp>
      <p:sp>
        <p:nvSpPr>
          <p:cNvPr id="167" name="Rectangle 8"/>
          <p:cNvSpPr txBox="1"/>
          <p:nvPr/>
        </p:nvSpPr>
        <p:spPr>
          <a:xfrm>
            <a:off x="498381" y="3752850"/>
            <a:ext cx="2039318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Defines the inquiry and the semantic detail needed to answer it.</a:t>
            </a:r>
          </a:p>
        </p:txBody>
      </p:sp>
      <p:sp>
        <p:nvSpPr>
          <p:cNvPr id="168" name="Rounded Rectangle 9"/>
          <p:cNvSpPr/>
          <p:nvPr/>
        </p:nvSpPr>
        <p:spPr>
          <a:xfrm>
            <a:off x="2902464" y="3143249"/>
            <a:ext cx="3048001" cy="1619251"/>
          </a:xfrm>
          <a:prstGeom prst="roundRect">
            <a:avLst>
              <a:gd name="adj" fmla="val 4706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Rectangle 10"/>
          <p:cNvSpPr/>
          <p:nvPr/>
        </p:nvSpPr>
        <p:spPr>
          <a:xfrm>
            <a:off x="2902464" y="3143249"/>
            <a:ext cx="76201" cy="1619251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Rectangle 11"/>
          <p:cNvSpPr txBox="1"/>
          <p:nvPr/>
        </p:nvSpPr>
        <p:spPr>
          <a:xfrm>
            <a:off x="3176784" y="3314699"/>
            <a:ext cx="2556511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S: Sensors</a:t>
            </a:r>
          </a:p>
        </p:txBody>
      </p:sp>
      <p:sp>
        <p:nvSpPr>
          <p:cNvPr id="171" name="Rectangle 12"/>
          <p:cNvSpPr txBox="1"/>
          <p:nvPr/>
        </p:nvSpPr>
        <p:spPr>
          <a:xfrm>
            <a:off x="3176784" y="3752849"/>
            <a:ext cx="255651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Selects only the observations relevant to the occupant's question.</a:t>
            </a:r>
          </a:p>
        </p:txBody>
      </p:sp>
      <p:sp>
        <p:nvSpPr>
          <p:cNvPr id="172" name="Rounded Rectangle 13"/>
          <p:cNvSpPr/>
          <p:nvPr/>
        </p:nvSpPr>
        <p:spPr>
          <a:xfrm>
            <a:off x="9473762" y="3143250"/>
            <a:ext cx="2473658" cy="1619251"/>
          </a:xfrm>
          <a:prstGeom prst="roundRect">
            <a:avLst>
              <a:gd name="adj" fmla="val 4706"/>
            </a:avLst>
          </a:prstGeom>
          <a:solidFill>
            <a:srgbClr val="FFF3E3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Rectangle 14"/>
          <p:cNvSpPr/>
          <p:nvPr/>
        </p:nvSpPr>
        <p:spPr>
          <a:xfrm>
            <a:off x="9468999" y="3143250"/>
            <a:ext cx="76201" cy="1619251"/>
          </a:xfrm>
          <a:prstGeom prst="rect">
            <a:avLst/>
          </a:prstGeom>
          <a:solidFill>
            <a:srgbClr val="C07D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Rectangle 15"/>
          <p:cNvSpPr txBox="1"/>
          <p:nvPr/>
        </p:nvSpPr>
        <p:spPr>
          <a:xfrm>
            <a:off x="9690932" y="3314700"/>
            <a:ext cx="2039318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T: </a:t>
            </a:r>
            <a:r>
              <a:t>Cycle detection</a:t>
            </a:r>
          </a:p>
        </p:txBody>
      </p:sp>
      <p:sp>
        <p:nvSpPr>
          <p:cNvPr id="175" name="Rectangle 16"/>
          <p:cNvSpPr txBox="1"/>
          <p:nvPr/>
        </p:nvSpPr>
        <p:spPr>
          <a:xfrm>
            <a:off x="9690932" y="3752850"/>
            <a:ext cx="2039318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defTabSz="822959">
              <a:lnSpc>
                <a:spcPct val="90000"/>
              </a:lnSpc>
              <a:defRPr sz="117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Define how to detect a cycle. it can last </a:t>
            </a:r>
            <a:r>
              <a:t>few hours (temporary service) or</a:t>
            </a:r>
            <a:r>
              <a:t> </a:t>
            </a:r>
            <a:r>
              <a:t>a complete </a:t>
            </a:r>
            <a:r>
              <a:t>day</a:t>
            </a:r>
            <a:r>
              <a:t> (permanent service)</a:t>
            </a:r>
          </a:p>
        </p:txBody>
      </p:sp>
      <p:sp>
        <p:nvSpPr>
          <p:cNvPr id="176" name="Rectangle 17"/>
          <p:cNvSpPr txBox="1"/>
          <p:nvPr/>
        </p:nvSpPr>
        <p:spPr>
          <a:xfrm>
            <a:off x="1093469" y="5476875"/>
            <a:ext cx="10005062" cy="438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b="1" sz="12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question also determines whether annotation-free recognition is enough or semantic annotation is required.</a:t>
            </a:r>
          </a:p>
        </p:txBody>
      </p:sp>
      <p:sp>
        <p:nvSpPr>
          <p:cNvPr id="177" name="Rounded Rectangle 9"/>
          <p:cNvSpPr/>
          <p:nvPr/>
        </p:nvSpPr>
        <p:spPr>
          <a:xfrm>
            <a:off x="6270504" y="3143250"/>
            <a:ext cx="3048001" cy="1619251"/>
          </a:xfrm>
          <a:prstGeom prst="roundRect">
            <a:avLst>
              <a:gd name="adj" fmla="val 4706"/>
            </a:avLst>
          </a:prstGeom>
          <a:solidFill>
            <a:srgbClr val="E3D6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Rectangle 10"/>
          <p:cNvSpPr/>
          <p:nvPr/>
        </p:nvSpPr>
        <p:spPr>
          <a:xfrm>
            <a:off x="6270504" y="3143250"/>
            <a:ext cx="76201" cy="1619251"/>
          </a:xfrm>
          <a:prstGeom prst="rect">
            <a:avLst/>
          </a:prstGeom>
          <a:solidFill>
            <a:schemeClr val="accent5">
              <a:lumOff val="-796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Rectangle 11"/>
          <p:cNvSpPr txBox="1"/>
          <p:nvPr/>
        </p:nvSpPr>
        <p:spPr>
          <a:xfrm>
            <a:off x="6544824" y="3314700"/>
            <a:ext cx="2556511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I: Indicators</a:t>
            </a:r>
          </a:p>
        </p:txBody>
      </p:sp>
      <p:sp>
        <p:nvSpPr>
          <p:cNvPr id="180" name="Rectangle 12"/>
          <p:cNvSpPr txBox="1"/>
          <p:nvPr/>
        </p:nvSpPr>
        <p:spPr>
          <a:xfrm>
            <a:off x="6544824" y="3752850"/>
            <a:ext cx="255651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List selected indicators for inquiry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Rectangle 1"/>
          <p:cNvGrpSpPr/>
          <p:nvPr/>
        </p:nvGrpSpPr>
        <p:grpSpPr>
          <a:xfrm>
            <a:off x="0" y="-1"/>
            <a:ext cx="12192000" cy="1047751"/>
            <a:chOff x="0" y="0"/>
            <a:chExt cx="12192000" cy="1047750"/>
          </a:xfrm>
        </p:grpSpPr>
        <p:sp>
          <p:nvSpPr>
            <p:cNvPr id="184" name="Rectangle"/>
            <p:cNvSpPr/>
            <p:nvPr/>
          </p:nvSpPr>
          <p:spPr>
            <a:xfrm>
              <a:off x="0" y="0"/>
              <a:ext cx="12192000" cy="1047750"/>
            </a:xfrm>
            <a:prstGeom prst="rect">
              <a:avLst/>
            </a:prstGeom>
            <a:solidFill>
              <a:srgbClr val="0F3B5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5" name="What does an annotation aiding system?"/>
            <p:cNvSpPr txBox="1"/>
            <p:nvPr/>
          </p:nvSpPr>
          <p:spPr>
            <a:xfrm>
              <a:off x="45719" y="0"/>
              <a:ext cx="12100561" cy="7656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/>
            </a:p>
            <a:p>
              <a:pPr>
                <a:defRPr b="1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  </a:t>
              </a:r>
              <a:r>
                <a:t>What does an annotation aiding system?</a:t>
              </a:r>
            </a:p>
          </p:txBody>
        </p:sp>
      </p:grpSp>
      <p:sp>
        <p:nvSpPr>
          <p:cNvPr id="187" name="Because it's tough to follow every days what's going on, annotation process has to be aided…"/>
          <p:cNvSpPr txBox="1"/>
          <p:nvPr>
            <p:ph type="body" idx="4294967295"/>
          </p:nvPr>
        </p:nvSpPr>
        <p:spPr>
          <a:xfrm>
            <a:off x="61967" y="1086107"/>
            <a:ext cx="12068066" cy="577189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t>Because it's tough to follow every days what's going on, annotation process has to be aided</a:t>
            </a:r>
          </a:p>
          <a:p>
            <a:pPr lvl="1" marL="685800" indent="-228600">
              <a:lnSpc>
                <a:spcPct val="100000"/>
              </a:lnSpc>
            </a:pPr>
            <a:r>
              <a:t>calling out when the moment is valuable thanks to interactive learning</a:t>
            </a:r>
          </a:p>
          <a:p>
            <a:pPr lvl="1" marL="685800" indent="-228600">
              <a:lnSpc>
                <a:spcPct val="100000"/>
              </a:lnSpc>
            </a:pPr>
            <a:r>
              <a:t>suggesting annotations to inhabitants that can validate or change some of them taking advantage of repetitions thanks to supervised learning</a:t>
            </a:r>
          </a:p>
          <a:p>
            <a:pPr lvl="1" marL="685800" indent="-228600">
              <a:lnSpc>
                <a:spcPct val="100000"/>
              </a:lnSpc>
            </a:pPr>
            <a:r>
              <a:t>detecting annotations singularities like </a:t>
            </a:r>
          </a:p>
          <a:p>
            <a:pPr lvl="2" marL="1143000" indent="-228600">
              <a:lnSpc>
                <a:spcPct val="100000"/>
              </a:lnSpc>
            </a:pPr>
            <a:r>
              <a:t>multiple annotations for the same event</a:t>
            </a:r>
          </a:p>
          <a:p>
            <a:pPr lvl="2" marL="1143000" indent="-228600">
              <a:lnSpc>
                <a:spcPct val="100000"/>
              </a:lnSpc>
            </a:pPr>
            <a:r>
              <a:t>Indistinguishable events with different annotations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Rectangle 1"/>
          <p:cNvGrpSpPr/>
          <p:nvPr/>
        </p:nvGrpSpPr>
        <p:grpSpPr>
          <a:xfrm>
            <a:off x="0" y="-1"/>
            <a:ext cx="12192000" cy="1047751"/>
            <a:chOff x="0" y="0"/>
            <a:chExt cx="12192000" cy="1047750"/>
          </a:xfrm>
        </p:grpSpPr>
        <p:sp>
          <p:nvSpPr>
            <p:cNvPr id="189" name="Rectangle"/>
            <p:cNvSpPr/>
            <p:nvPr/>
          </p:nvSpPr>
          <p:spPr>
            <a:xfrm>
              <a:off x="0" y="0"/>
              <a:ext cx="12192000" cy="1047750"/>
            </a:xfrm>
            <a:prstGeom prst="rect">
              <a:avLst/>
            </a:prstGeom>
            <a:solidFill>
              <a:srgbClr val="0F3B5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0" name="What does an annotation aiding system?"/>
            <p:cNvSpPr txBox="1"/>
            <p:nvPr/>
          </p:nvSpPr>
          <p:spPr>
            <a:xfrm>
              <a:off x="45719" y="0"/>
              <a:ext cx="12100561" cy="7656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/>
            </a:p>
            <a:p>
              <a:pPr>
                <a:defRPr b="1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  </a:t>
              </a:r>
              <a:r>
                <a:t>What does an annotation aiding system?</a:t>
              </a:r>
            </a:p>
          </p:txBody>
        </p:sp>
      </p:grpSp>
      <p:sp>
        <p:nvSpPr>
          <p:cNvPr id="192" name="Listening smart-buildings includes…"/>
          <p:cNvSpPr txBox="1"/>
          <p:nvPr>
            <p:ph type="body" idx="4294967295"/>
          </p:nvPr>
        </p:nvSpPr>
        <p:spPr>
          <a:xfrm>
            <a:off x="61967" y="1086107"/>
            <a:ext cx="12068066" cy="577189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t>Listening smart-buildings includes</a:t>
            </a:r>
          </a:p>
          <a:p>
            <a:pPr lvl="1" marL="685800" indent="-228600">
              <a:lnSpc>
                <a:spcPct val="100000"/>
              </a:lnSpc>
            </a:pPr>
            <a:r>
              <a:t>an annotation aiding system</a:t>
            </a:r>
          </a:p>
          <a:p>
            <a:pPr lvl="2" marL="1143000" indent="-228600">
              <a:lnSpc>
                <a:spcPct val="100000"/>
              </a:lnSpc>
            </a:pPr>
            <a:r>
              <a:t> a Large Language Model for generating explanations based of global knowledge combined with local information like data and model based indicators</a:t>
            </a:r>
          </a:p>
          <a:p>
            <a:pPr lvl="2" marL="1143000" indent="-228600">
              <a:lnSpc>
                <a:spcPct val="100000"/>
              </a:lnSpc>
            </a:pPr>
            <a:r>
              <a:t>a rapid building physics representation tools</a:t>
            </a:r>
          </a:p>
          <a:p>
            <a:pPr lvl="1" marL="685800" indent="-228600">
              <a:lnSpc>
                <a:spcPct val="100000"/>
              </a:lnSpc>
            </a:pPr>
            <a:r>
              <a:t>an case based reasoning system for recommending future behavior and to recommend future actions</a:t>
            </a:r>
          </a:p>
          <a:p>
            <a:pPr lvl="1" marL="685800" indent="-228600">
              <a:lnSpc>
                <a:spcPct val="100000"/>
              </a:lnSpc>
            </a:pPr>
            <a:r>
              <a:t>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Rectangle 1"/>
          <p:cNvGrpSpPr/>
          <p:nvPr/>
        </p:nvGrpSpPr>
        <p:grpSpPr>
          <a:xfrm>
            <a:off x="0" y="-1"/>
            <a:ext cx="12192000" cy="1047751"/>
            <a:chOff x="0" y="0"/>
            <a:chExt cx="12192000" cy="1047750"/>
          </a:xfrm>
        </p:grpSpPr>
        <p:sp>
          <p:nvSpPr>
            <p:cNvPr id="194" name="Rectangle"/>
            <p:cNvSpPr/>
            <p:nvPr/>
          </p:nvSpPr>
          <p:spPr>
            <a:xfrm>
              <a:off x="0" y="0"/>
              <a:ext cx="12192000" cy="1047750"/>
            </a:xfrm>
            <a:prstGeom prst="rect">
              <a:avLst/>
            </a:prstGeom>
            <a:solidFill>
              <a:srgbClr val="0F3B5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5" name="Illustration"/>
            <p:cNvSpPr txBox="1"/>
            <p:nvPr/>
          </p:nvSpPr>
          <p:spPr>
            <a:xfrm>
              <a:off x="45719" y="0"/>
              <a:ext cx="12100562" cy="7656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/>
            </a:p>
            <a:p>
              <a:pPr>
                <a:defRPr b="1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    Illustration</a:t>
              </a:r>
            </a:p>
          </p:txBody>
        </p:sp>
      </p:grpSp>
      <p:pic>
        <p:nvPicPr>
          <p:cNvPr id="19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008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4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Traces And Meanings</a:t>
            </a:r>
          </a:p>
        </p:txBody>
      </p:sp>
      <p:sp>
        <p:nvSpPr>
          <p:cNvPr id="201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02" name="Rectangle 3"/>
          <p:cNvSpPr txBox="1"/>
          <p:nvPr/>
        </p:nvSpPr>
        <p:spPr>
          <a:xfrm>
            <a:off x="883919" y="1285875"/>
            <a:ext cx="10386062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9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Sensors capture observable traces. Occupants supply meanings, intentions, and acceptability judgments.</a:t>
            </a:r>
          </a:p>
        </p:txBody>
      </p:sp>
      <p:sp>
        <p:nvSpPr>
          <p:cNvPr id="203" name="Rounded Rectangle 4"/>
          <p:cNvSpPr/>
          <p:nvPr/>
        </p:nvSpPr>
        <p:spPr>
          <a:xfrm>
            <a:off x="1000125" y="2381250"/>
            <a:ext cx="4381500" cy="2000250"/>
          </a:xfrm>
          <a:prstGeom prst="roundRect">
            <a:avLst>
              <a:gd name="adj" fmla="val 3810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Rectangle 5"/>
          <p:cNvSpPr/>
          <p:nvPr/>
        </p:nvSpPr>
        <p:spPr>
          <a:xfrm>
            <a:off x="1000125" y="2381250"/>
            <a:ext cx="76200" cy="200025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Rectangle 6"/>
          <p:cNvSpPr txBox="1"/>
          <p:nvPr/>
        </p:nvSpPr>
        <p:spPr>
          <a:xfrm>
            <a:off x="1274444" y="2552700"/>
            <a:ext cx="3890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Sensor-observable traces</a:t>
            </a:r>
          </a:p>
        </p:txBody>
      </p:sp>
      <p:sp>
        <p:nvSpPr>
          <p:cNvPr id="206" name="Rectangle 7"/>
          <p:cNvSpPr txBox="1"/>
          <p:nvPr/>
        </p:nvSpPr>
        <p:spPr>
          <a:xfrm>
            <a:off x="1274444" y="2990850"/>
            <a:ext cx="3890012" cy="1257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Power, water, temperature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Motion, contact, occupancy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Timing, duration, recurrence</a:t>
            </a:r>
          </a:p>
        </p:txBody>
      </p:sp>
      <p:sp>
        <p:nvSpPr>
          <p:cNvPr id="207" name="Rounded Rectangle 8"/>
          <p:cNvSpPr/>
          <p:nvPr/>
        </p:nvSpPr>
        <p:spPr>
          <a:xfrm>
            <a:off x="6810375" y="2381250"/>
            <a:ext cx="4381500" cy="2000250"/>
          </a:xfrm>
          <a:prstGeom prst="roundRect">
            <a:avLst>
              <a:gd name="adj" fmla="val 3810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Rectangle 9"/>
          <p:cNvSpPr/>
          <p:nvPr/>
        </p:nvSpPr>
        <p:spPr>
          <a:xfrm>
            <a:off x="6810375" y="2381250"/>
            <a:ext cx="76200" cy="200025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Rectangle 10"/>
          <p:cNvSpPr txBox="1"/>
          <p:nvPr/>
        </p:nvSpPr>
        <p:spPr>
          <a:xfrm>
            <a:off x="7084694" y="2552700"/>
            <a:ext cx="3890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Occupant-only meanings</a:t>
            </a:r>
          </a:p>
        </p:txBody>
      </p:sp>
      <p:sp>
        <p:nvSpPr>
          <p:cNvPr id="210" name="Rectangle 11"/>
          <p:cNvSpPr txBox="1"/>
          <p:nvPr/>
        </p:nvSpPr>
        <p:spPr>
          <a:xfrm>
            <a:off x="7084694" y="2990850"/>
            <a:ext cx="3890012" cy="1257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Purpose and intention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Satisfaction or discomfort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Constraints, care, habits, deliberation</a:t>
            </a:r>
          </a:p>
        </p:txBody>
      </p:sp>
      <p:sp>
        <p:nvSpPr>
          <p:cNvPr id="211" name="Rectangle 12"/>
          <p:cNvSpPr/>
          <p:nvPr/>
        </p:nvSpPr>
        <p:spPr>
          <a:xfrm>
            <a:off x="5381625" y="3381375"/>
            <a:ext cx="1428750" cy="19050"/>
          </a:xfrm>
          <a:prstGeom prst="rect">
            <a:avLst/>
          </a:prstGeom>
          <a:solidFill>
            <a:srgbClr val="C8D5D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Rectangle 13"/>
          <p:cNvSpPr txBox="1"/>
          <p:nvPr/>
        </p:nvSpPr>
        <p:spPr>
          <a:xfrm>
            <a:off x="1245869" y="5143500"/>
            <a:ext cx="9700262" cy="52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6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Semantic annotation connects the two without pretending that one replaces the other.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17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Occupants As Intentional Learners</a:t>
            </a:r>
          </a:p>
        </p:txBody>
      </p:sp>
      <p:sp>
        <p:nvSpPr>
          <p:cNvPr id="218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19" name="Rectangle 3"/>
          <p:cNvSpPr txBox="1"/>
          <p:nvPr/>
        </p:nvSpPr>
        <p:spPr>
          <a:xfrm>
            <a:off x="960119" y="1352550"/>
            <a:ext cx="10100312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80000"/>
              </a:lnSpc>
              <a:defRPr b="1" sz="16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listening building treats occupants as co-investigators in their own living environment.</a:t>
            </a:r>
          </a:p>
        </p:txBody>
      </p:sp>
      <p:sp>
        <p:nvSpPr>
          <p:cNvPr id="220" name="Rounded Rectangle 4"/>
          <p:cNvSpPr/>
          <p:nvPr/>
        </p:nvSpPr>
        <p:spPr>
          <a:xfrm>
            <a:off x="1123950" y="2495550"/>
            <a:ext cx="2857500" cy="1809750"/>
          </a:xfrm>
          <a:prstGeom prst="roundRect">
            <a:avLst>
              <a:gd name="adj" fmla="val 4211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Rectangle 5"/>
          <p:cNvSpPr/>
          <p:nvPr/>
        </p:nvSpPr>
        <p:spPr>
          <a:xfrm>
            <a:off x="1123950" y="2495550"/>
            <a:ext cx="76200" cy="180975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Rectangle 6"/>
          <p:cNvSpPr txBox="1"/>
          <p:nvPr/>
        </p:nvSpPr>
        <p:spPr>
          <a:xfrm>
            <a:off x="1398269" y="2667000"/>
            <a:ext cx="2366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Question</a:t>
            </a:r>
          </a:p>
        </p:txBody>
      </p:sp>
      <p:sp>
        <p:nvSpPr>
          <p:cNvPr id="223" name="Rectangle 7"/>
          <p:cNvSpPr txBox="1"/>
          <p:nvPr/>
        </p:nvSpPr>
        <p:spPr>
          <a:xfrm>
            <a:off x="1398269" y="3105150"/>
            <a:ext cx="2366012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do I want to understand about this service?</a:t>
            </a:r>
          </a:p>
        </p:txBody>
      </p:sp>
      <p:sp>
        <p:nvSpPr>
          <p:cNvPr id="224" name="Rounded Rectangle 8"/>
          <p:cNvSpPr/>
          <p:nvPr/>
        </p:nvSpPr>
        <p:spPr>
          <a:xfrm>
            <a:off x="4667250" y="2495550"/>
            <a:ext cx="2857500" cy="1809750"/>
          </a:xfrm>
          <a:prstGeom prst="roundRect">
            <a:avLst>
              <a:gd name="adj" fmla="val 4211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Rectangle 9"/>
          <p:cNvSpPr/>
          <p:nvPr/>
        </p:nvSpPr>
        <p:spPr>
          <a:xfrm>
            <a:off x="4667250" y="2495550"/>
            <a:ext cx="76200" cy="180975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Rectangle 10"/>
          <p:cNvSpPr txBox="1"/>
          <p:nvPr/>
        </p:nvSpPr>
        <p:spPr>
          <a:xfrm>
            <a:off x="4941569" y="2667000"/>
            <a:ext cx="2366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Observe</a:t>
            </a:r>
          </a:p>
        </p:txBody>
      </p:sp>
      <p:sp>
        <p:nvSpPr>
          <p:cNvPr id="227" name="Rectangle 11"/>
          <p:cNvSpPr txBox="1"/>
          <p:nvPr/>
        </p:nvSpPr>
        <p:spPr>
          <a:xfrm>
            <a:off x="4941569" y="3105150"/>
            <a:ext cx="2366012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can the building measure continuously and reliably?</a:t>
            </a:r>
          </a:p>
        </p:txBody>
      </p:sp>
      <p:sp>
        <p:nvSpPr>
          <p:cNvPr id="228" name="Rounded Rectangle 12"/>
          <p:cNvSpPr/>
          <p:nvPr/>
        </p:nvSpPr>
        <p:spPr>
          <a:xfrm>
            <a:off x="8210550" y="2495550"/>
            <a:ext cx="2857500" cy="1809750"/>
          </a:xfrm>
          <a:prstGeom prst="roundRect">
            <a:avLst>
              <a:gd name="adj" fmla="val 4211"/>
            </a:avLst>
          </a:prstGeom>
          <a:solidFill>
            <a:srgbClr val="FFF3E3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Rectangle 13"/>
          <p:cNvSpPr/>
          <p:nvPr/>
        </p:nvSpPr>
        <p:spPr>
          <a:xfrm>
            <a:off x="8210550" y="2495550"/>
            <a:ext cx="76200" cy="1809750"/>
          </a:xfrm>
          <a:prstGeom prst="rect">
            <a:avLst/>
          </a:prstGeom>
          <a:solidFill>
            <a:srgbClr val="C07D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Rectangle 14"/>
          <p:cNvSpPr txBox="1"/>
          <p:nvPr/>
        </p:nvSpPr>
        <p:spPr>
          <a:xfrm>
            <a:off x="8484869" y="2667000"/>
            <a:ext cx="2366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Reflect</a:t>
            </a:r>
          </a:p>
        </p:txBody>
      </p:sp>
      <p:sp>
        <p:nvSpPr>
          <p:cNvPr id="231" name="Rectangle 15"/>
          <p:cNvSpPr txBox="1"/>
          <p:nvPr/>
        </p:nvSpPr>
        <p:spPr>
          <a:xfrm>
            <a:off x="8484869" y="3105150"/>
            <a:ext cx="2366012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does the measured event mean for comfort, need, or routine?</a:t>
            </a:r>
          </a:p>
        </p:txBody>
      </p:sp>
      <p:sp>
        <p:nvSpPr>
          <p:cNvPr id="232" name="Rectangle 16"/>
          <p:cNvSpPr txBox="1"/>
          <p:nvPr/>
        </p:nvSpPr>
        <p:spPr>
          <a:xfrm>
            <a:off x="1360169" y="5162550"/>
            <a:ext cx="9471662" cy="5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5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system supports learning from everyday life rather than enforcing predefined behaviour change.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15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Domestic Situations</a:t>
            </a:r>
          </a:p>
        </p:txBody>
      </p:sp>
      <p:sp>
        <p:nvSpPr>
          <p:cNvPr id="238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39" name="Rectangle 3"/>
          <p:cNvSpPr txBox="1"/>
          <p:nvPr/>
        </p:nvSpPr>
        <p:spPr>
          <a:xfrm>
            <a:off x="902969" y="1333500"/>
            <a:ext cx="10290812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80000"/>
              </a:lnSpc>
              <a:defRPr b="1" sz="17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service episode is a socio-physical object: measured states plus household meanings.</a:t>
            </a:r>
          </a:p>
        </p:txBody>
      </p:sp>
      <p:sp>
        <p:nvSpPr>
          <p:cNvPr id="240" name="Rounded Rectangle 4"/>
          <p:cNvSpPr/>
          <p:nvPr/>
        </p:nvSpPr>
        <p:spPr>
          <a:xfrm>
            <a:off x="1047750" y="2476500"/>
            <a:ext cx="4381500" cy="2190750"/>
          </a:xfrm>
          <a:prstGeom prst="roundRect">
            <a:avLst>
              <a:gd name="adj" fmla="val 3478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Rectangle 5"/>
          <p:cNvSpPr/>
          <p:nvPr/>
        </p:nvSpPr>
        <p:spPr>
          <a:xfrm>
            <a:off x="1047750" y="2476500"/>
            <a:ext cx="76200" cy="219075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Rectangle 6"/>
          <p:cNvSpPr txBox="1"/>
          <p:nvPr/>
        </p:nvSpPr>
        <p:spPr>
          <a:xfrm>
            <a:off x="1322069" y="2647950"/>
            <a:ext cx="3890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Physical side</a:t>
            </a:r>
          </a:p>
        </p:txBody>
      </p:sp>
      <p:sp>
        <p:nvSpPr>
          <p:cNvPr id="243" name="Rectangle 7"/>
          <p:cNvSpPr txBox="1"/>
          <p:nvPr/>
        </p:nvSpPr>
        <p:spPr>
          <a:xfrm>
            <a:off x="1322069" y="3086100"/>
            <a:ext cx="3890012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Energy use, indoor temperature, humidity, appliance status, occupancy, outdoor conditions</a:t>
            </a:r>
          </a:p>
        </p:txBody>
      </p:sp>
      <p:sp>
        <p:nvSpPr>
          <p:cNvPr id="244" name="Rounded Rectangle 8"/>
          <p:cNvSpPr/>
          <p:nvPr/>
        </p:nvSpPr>
        <p:spPr>
          <a:xfrm>
            <a:off x="6762750" y="2476500"/>
            <a:ext cx="4381500" cy="2190750"/>
          </a:xfrm>
          <a:prstGeom prst="roundRect">
            <a:avLst>
              <a:gd name="adj" fmla="val 3478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Rectangle 9"/>
          <p:cNvSpPr/>
          <p:nvPr/>
        </p:nvSpPr>
        <p:spPr>
          <a:xfrm>
            <a:off x="6762750" y="2476500"/>
            <a:ext cx="76200" cy="219075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Rectangle 10"/>
          <p:cNvSpPr txBox="1"/>
          <p:nvPr/>
        </p:nvSpPr>
        <p:spPr>
          <a:xfrm>
            <a:off x="7037069" y="2647950"/>
            <a:ext cx="3890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Social side</a:t>
            </a:r>
          </a:p>
        </p:txBody>
      </p:sp>
      <p:sp>
        <p:nvSpPr>
          <p:cNvPr id="247" name="Rectangle 11"/>
          <p:cNvSpPr txBox="1"/>
          <p:nvPr/>
        </p:nvSpPr>
        <p:spPr>
          <a:xfrm>
            <a:off x="7037069" y="3086100"/>
            <a:ext cx="3890012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Comfort, cleanliness, convenience, care, privacy, fatigue, habits, social expectations</a:t>
            </a:r>
          </a:p>
        </p:txBody>
      </p:sp>
      <p:sp>
        <p:nvSpPr>
          <p:cNvPr id="248" name="Oval 12"/>
          <p:cNvSpPr/>
          <p:nvPr/>
        </p:nvSpPr>
        <p:spPr>
          <a:xfrm>
            <a:off x="5143500" y="3190875"/>
            <a:ext cx="1905000" cy="7810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3B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Rectangle 13"/>
          <p:cNvSpPr txBox="1"/>
          <p:nvPr/>
        </p:nvSpPr>
        <p:spPr>
          <a:xfrm>
            <a:off x="5570219" y="3409950"/>
            <a:ext cx="1051562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b="1" sz="17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Case</a:t>
            </a:r>
          </a:p>
        </p:txBody>
      </p:sp>
      <p:sp>
        <p:nvSpPr>
          <p:cNvPr id="250" name="Rectangle 14"/>
          <p:cNvSpPr txBox="1"/>
          <p:nvPr/>
        </p:nvSpPr>
        <p:spPr>
          <a:xfrm>
            <a:off x="1398269" y="5334000"/>
            <a:ext cx="9395462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7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Cases make situated comparison possible without imposing one universal rule.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13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Selective Semantic Annotation</a:t>
            </a:r>
          </a:p>
        </p:txBody>
      </p:sp>
      <p:sp>
        <p:nvSpPr>
          <p:cNvPr id="256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57" name="Rectangle 3"/>
          <p:cNvSpPr txBox="1"/>
          <p:nvPr/>
        </p:nvSpPr>
        <p:spPr>
          <a:xfrm>
            <a:off x="960119" y="1352550"/>
            <a:ext cx="10157462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7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system should ask when annotation has interpretive value, not whenever a sensor fires.</a:t>
            </a:r>
          </a:p>
        </p:txBody>
      </p:sp>
      <p:sp>
        <p:nvSpPr>
          <p:cNvPr id="258" name="Rounded Rectangle 4"/>
          <p:cNvSpPr/>
          <p:nvPr/>
        </p:nvSpPr>
        <p:spPr>
          <a:xfrm>
            <a:off x="1047750" y="2457450"/>
            <a:ext cx="4476750" cy="2095500"/>
          </a:xfrm>
          <a:prstGeom prst="roundRect">
            <a:avLst>
              <a:gd name="adj" fmla="val 3636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Rectangle 5"/>
          <p:cNvSpPr/>
          <p:nvPr/>
        </p:nvSpPr>
        <p:spPr>
          <a:xfrm>
            <a:off x="1047750" y="2457450"/>
            <a:ext cx="76200" cy="209550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Rectangle 6"/>
          <p:cNvSpPr txBox="1"/>
          <p:nvPr/>
        </p:nvSpPr>
        <p:spPr>
          <a:xfrm>
            <a:off x="1322069" y="2628900"/>
            <a:ext cx="39852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Low semantic uncertainty</a:t>
            </a:r>
          </a:p>
        </p:txBody>
      </p:sp>
      <p:sp>
        <p:nvSpPr>
          <p:cNvPr id="261" name="Rectangle 7"/>
          <p:cNvSpPr txBox="1"/>
          <p:nvPr/>
        </p:nvSpPr>
        <p:spPr>
          <a:xfrm>
            <a:off x="1322069" y="3067050"/>
            <a:ext cx="3985262" cy="1352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Sensor facts can answer the question.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Example: start time, end time, duration, energy.</a:t>
            </a:r>
          </a:p>
        </p:txBody>
      </p:sp>
      <p:sp>
        <p:nvSpPr>
          <p:cNvPr id="262" name="Rounded Rectangle 8"/>
          <p:cNvSpPr/>
          <p:nvPr/>
        </p:nvSpPr>
        <p:spPr>
          <a:xfrm>
            <a:off x="6667500" y="2457450"/>
            <a:ext cx="4476750" cy="2095500"/>
          </a:xfrm>
          <a:prstGeom prst="roundRect">
            <a:avLst>
              <a:gd name="adj" fmla="val 3636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3" name="Rectangle 9"/>
          <p:cNvSpPr/>
          <p:nvPr/>
        </p:nvSpPr>
        <p:spPr>
          <a:xfrm>
            <a:off x="6667500" y="2457450"/>
            <a:ext cx="76200" cy="209550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Rectangle 10"/>
          <p:cNvSpPr txBox="1"/>
          <p:nvPr/>
        </p:nvSpPr>
        <p:spPr>
          <a:xfrm>
            <a:off x="6941819" y="2628900"/>
            <a:ext cx="39852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High semantic uncertainty</a:t>
            </a:r>
          </a:p>
        </p:txBody>
      </p:sp>
      <p:sp>
        <p:nvSpPr>
          <p:cNvPr id="265" name="Rectangle 11"/>
          <p:cNvSpPr txBox="1"/>
          <p:nvPr/>
        </p:nvSpPr>
        <p:spPr>
          <a:xfrm>
            <a:off x="6941819" y="3067050"/>
            <a:ext cx="3985262" cy="1352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answer needs lived context.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Example: programme, load type, reason, satisfaction.</a:t>
            </a:r>
          </a:p>
        </p:txBody>
      </p:sp>
      <p:sp>
        <p:nvSpPr>
          <p:cNvPr id="266" name="Rectangle 12"/>
          <p:cNvSpPr txBox="1"/>
          <p:nvPr/>
        </p:nvSpPr>
        <p:spPr>
          <a:xfrm>
            <a:off x="1207769" y="5286375"/>
            <a:ext cx="9776462" cy="476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80000"/>
              </a:lnSpc>
              <a:defRPr b="1" sz="14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Selective annotation protects attention, privacy, and trust while preserving the meaning needed for learning.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25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Inquiry Loop</a:t>
            </a:r>
          </a:p>
        </p:txBody>
      </p:sp>
      <p:sp>
        <p:nvSpPr>
          <p:cNvPr id="272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73" name="Rectangle 3"/>
          <p:cNvSpPr txBox="1"/>
          <p:nvPr/>
        </p:nvSpPr>
        <p:spPr>
          <a:xfrm>
            <a:off x="941069" y="1333500"/>
            <a:ext cx="10252712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listening smart building repeats an inquiry loop as routines and expectations change.</a:t>
            </a:r>
          </a:p>
        </p:txBody>
      </p:sp>
      <p:sp>
        <p:nvSpPr>
          <p:cNvPr id="274" name="Rectangle 24"/>
          <p:cNvSpPr txBox="1"/>
          <p:nvPr/>
        </p:nvSpPr>
        <p:spPr>
          <a:xfrm>
            <a:off x="1493519" y="6191250"/>
            <a:ext cx="9433562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5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Self-experimentation tests hypotheses. It does not turn recommendations into prescriptions.</a:t>
            </a:r>
          </a:p>
        </p:txBody>
      </p:sp>
      <p:pic>
        <p:nvPicPr>
          <p:cNvPr id="275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267" y="2790312"/>
            <a:ext cx="11023899" cy="2976658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2896" y="2310230"/>
            <a:ext cx="11772236" cy="31787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 18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Needs And Services</a:t>
            </a:r>
          </a:p>
        </p:txBody>
      </p:sp>
      <p:sp>
        <p:nvSpPr>
          <p:cNvPr id="282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83" name="Rectangle 3"/>
          <p:cNvSpPr txBox="1"/>
          <p:nvPr/>
        </p:nvSpPr>
        <p:spPr>
          <a:xfrm>
            <a:off x="922019" y="1314450"/>
            <a:ext cx="103479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listening building starts from human needs, then asks which domestic service satisfies them in a given situation.</a:t>
            </a:r>
          </a:p>
        </p:txBody>
      </p:sp>
      <p:sp>
        <p:nvSpPr>
          <p:cNvPr id="284" name="Rounded Rectangle 4"/>
          <p:cNvSpPr/>
          <p:nvPr/>
        </p:nvSpPr>
        <p:spPr>
          <a:xfrm>
            <a:off x="904875" y="2476500"/>
            <a:ext cx="3000375" cy="2190750"/>
          </a:xfrm>
          <a:prstGeom prst="roundRect">
            <a:avLst>
              <a:gd name="adj" fmla="val 3478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Rectangle 5"/>
          <p:cNvSpPr/>
          <p:nvPr/>
        </p:nvSpPr>
        <p:spPr>
          <a:xfrm>
            <a:off x="904875" y="2476500"/>
            <a:ext cx="76200" cy="219075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Rectangle 6"/>
          <p:cNvSpPr txBox="1"/>
          <p:nvPr/>
        </p:nvSpPr>
        <p:spPr>
          <a:xfrm>
            <a:off x="1179194" y="2647950"/>
            <a:ext cx="2508887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Need</a:t>
            </a:r>
          </a:p>
        </p:txBody>
      </p:sp>
      <p:sp>
        <p:nvSpPr>
          <p:cNvPr id="287" name="Rectangle 7"/>
          <p:cNvSpPr txBox="1"/>
          <p:nvPr/>
        </p:nvSpPr>
        <p:spPr>
          <a:xfrm>
            <a:off x="1179194" y="3086100"/>
            <a:ext cx="2508887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Comfort, hygiene, safety, care, information, or convenience as the occupant understands it.</a:t>
            </a:r>
          </a:p>
        </p:txBody>
      </p:sp>
      <p:sp>
        <p:nvSpPr>
          <p:cNvPr id="288" name="Rounded Rectangle 8"/>
          <p:cNvSpPr/>
          <p:nvPr/>
        </p:nvSpPr>
        <p:spPr>
          <a:xfrm>
            <a:off x="4591050" y="2476500"/>
            <a:ext cx="3000375" cy="2190750"/>
          </a:xfrm>
          <a:prstGeom prst="roundRect">
            <a:avLst>
              <a:gd name="adj" fmla="val 3478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Rectangle 9"/>
          <p:cNvSpPr/>
          <p:nvPr/>
        </p:nvSpPr>
        <p:spPr>
          <a:xfrm>
            <a:off x="4591050" y="2476500"/>
            <a:ext cx="76200" cy="219075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Rectangle 10"/>
          <p:cNvSpPr txBox="1"/>
          <p:nvPr/>
        </p:nvSpPr>
        <p:spPr>
          <a:xfrm>
            <a:off x="4865369" y="2647950"/>
            <a:ext cx="2508887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Satisfier</a:t>
            </a:r>
          </a:p>
        </p:txBody>
      </p:sp>
      <p:sp>
        <p:nvSpPr>
          <p:cNvPr id="291" name="Rectangle 11"/>
          <p:cNvSpPr txBox="1"/>
          <p:nvPr/>
        </p:nvSpPr>
        <p:spPr>
          <a:xfrm>
            <a:off x="4865369" y="3086100"/>
            <a:ext cx="2508887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concrete service configuration: heating a room, running a wash cycle, ventilating, lighting, charging, or cooking.</a:t>
            </a:r>
          </a:p>
        </p:txBody>
      </p:sp>
      <p:sp>
        <p:nvSpPr>
          <p:cNvPr id="292" name="Rounded Rectangle 12"/>
          <p:cNvSpPr/>
          <p:nvPr/>
        </p:nvSpPr>
        <p:spPr>
          <a:xfrm>
            <a:off x="8277225" y="2476500"/>
            <a:ext cx="3000375" cy="2190750"/>
          </a:xfrm>
          <a:prstGeom prst="roundRect">
            <a:avLst>
              <a:gd name="adj" fmla="val 3478"/>
            </a:avLst>
          </a:prstGeom>
          <a:solidFill>
            <a:srgbClr val="FFF3E3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Rectangle 13"/>
          <p:cNvSpPr/>
          <p:nvPr/>
        </p:nvSpPr>
        <p:spPr>
          <a:xfrm>
            <a:off x="8277225" y="2476500"/>
            <a:ext cx="76200" cy="2190750"/>
          </a:xfrm>
          <a:prstGeom prst="rect">
            <a:avLst/>
          </a:prstGeom>
          <a:solidFill>
            <a:srgbClr val="C07D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Rectangle 14"/>
          <p:cNvSpPr txBox="1"/>
          <p:nvPr/>
        </p:nvSpPr>
        <p:spPr>
          <a:xfrm>
            <a:off x="8551544" y="2647950"/>
            <a:ext cx="2508887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Sufficiency judgment</a:t>
            </a:r>
          </a:p>
        </p:txBody>
      </p:sp>
      <p:sp>
        <p:nvSpPr>
          <p:cNvPr id="295" name="Rectangle 15"/>
          <p:cNvSpPr txBox="1"/>
          <p:nvPr/>
        </p:nvSpPr>
        <p:spPr>
          <a:xfrm>
            <a:off x="8551544" y="3086100"/>
            <a:ext cx="2508887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occupant evaluates whether the service level and timing fit well-being, constraints, and resource use.</a:t>
            </a:r>
          </a:p>
        </p:txBody>
      </p:sp>
      <p:sp>
        <p:nvSpPr>
          <p:cNvPr id="296" name="Rectangle 16"/>
          <p:cNvSpPr txBox="1"/>
          <p:nvPr/>
        </p:nvSpPr>
        <p:spPr>
          <a:xfrm>
            <a:off x="1150619" y="5238750"/>
            <a:ext cx="9890762" cy="5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b="1" sz="14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This prevents sufficiency from becoming a simple reduction rule. Sometimes less service helps. Sometimes maintaining service protects dignity, health, or care.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 18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Practices And Service Episodes</a:t>
            </a:r>
          </a:p>
        </p:txBody>
      </p:sp>
      <p:sp>
        <p:nvSpPr>
          <p:cNvPr id="302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303" name="Rectangle 3"/>
          <p:cNvSpPr txBox="1"/>
          <p:nvPr/>
        </p:nvSpPr>
        <p:spPr>
          <a:xfrm>
            <a:off x="960119" y="1352550"/>
            <a:ext cx="10157462" cy="5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0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Domestic demand comes from practices, not isolated appliance choices.</a:t>
            </a:r>
          </a:p>
        </p:txBody>
      </p:sp>
      <p:sp>
        <p:nvSpPr>
          <p:cNvPr id="304" name="Rounded Rectangle 4"/>
          <p:cNvSpPr/>
          <p:nvPr/>
        </p:nvSpPr>
        <p:spPr>
          <a:xfrm>
            <a:off x="933450" y="2476500"/>
            <a:ext cx="3238500" cy="2190750"/>
          </a:xfrm>
          <a:prstGeom prst="roundRect">
            <a:avLst>
              <a:gd name="adj" fmla="val 3478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Rectangle 5"/>
          <p:cNvSpPr/>
          <p:nvPr/>
        </p:nvSpPr>
        <p:spPr>
          <a:xfrm>
            <a:off x="933450" y="2476500"/>
            <a:ext cx="76200" cy="219075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Rectangle 6"/>
          <p:cNvSpPr txBox="1"/>
          <p:nvPr/>
        </p:nvSpPr>
        <p:spPr>
          <a:xfrm>
            <a:off x="1207769" y="2647950"/>
            <a:ext cx="2747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Practice</a:t>
            </a:r>
          </a:p>
        </p:txBody>
      </p:sp>
      <p:sp>
        <p:nvSpPr>
          <p:cNvPr id="307" name="Rectangle 7"/>
          <p:cNvSpPr txBox="1"/>
          <p:nvPr/>
        </p:nvSpPr>
        <p:spPr>
          <a:xfrm>
            <a:off x="1207769" y="3086100"/>
            <a:ext cx="2747012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Washing, cooking, heating, hosting, working, caring, cleaning, and relaxing organize what households come to need.</a:t>
            </a:r>
          </a:p>
        </p:txBody>
      </p:sp>
      <p:sp>
        <p:nvSpPr>
          <p:cNvPr id="308" name="Rounded Rectangle 8"/>
          <p:cNvSpPr/>
          <p:nvPr/>
        </p:nvSpPr>
        <p:spPr>
          <a:xfrm>
            <a:off x="4476750" y="2476500"/>
            <a:ext cx="3238500" cy="2190750"/>
          </a:xfrm>
          <a:prstGeom prst="roundRect">
            <a:avLst>
              <a:gd name="adj" fmla="val 3478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Rectangle 9"/>
          <p:cNvSpPr/>
          <p:nvPr/>
        </p:nvSpPr>
        <p:spPr>
          <a:xfrm>
            <a:off x="4476750" y="2476500"/>
            <a:ext cx="76200" cy="219075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Rectangle 10"/>
          <p:cNvSpPr txBox="1"/>
          <p:nvPr/>
        </p:nvSpPr>
        <p:spPr>
          <a:xfrm>
            <a:off x="4751069" y="2647950"/>
            <a:ext cx="2747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Material setting</a:t>
            </a:r>
          </a:p>
        </p:txBody>
      </p:sp>
      <p:sp>
        <p:nvSpPr>
          <p:cNvPr id="311" name="Rectangle 11"/>
          <p:cNvSpPr txBox="1"/>
          <p:nvPr/>
        </p:nvSpPr>
        <p:spPr>
          <a:xfrm>
            <a:off x="4751069" y="3086100"/>
            <a:ext cx="2747012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Appliances, sensors, rooms, tariffs, weather, time constraints, and building fabric shape what options feel realistic.</a:t>
            </a:r>
          </a:p>
        </p:txBody>
      </p:sp>
      <p:sp>
        <p:nvSpPr>
          <p:cNvPr id="312" name="Rounded Rectangle 12"/>
          <p:cNvSpPr/>
          <p:nvPr/>
        </p:nvSpPr>
        <p:spPr>
          <a:xfrm>
            <a:off x="8020050" y="2476500"/>
            <a:ext cx="3238500" cy="2190750"/>
          </a:xfrm>
          <a:prstGeom prst="roundRect">
            <a:avLst>
              <a:gd name="adj" fmla="val 3478"/>
            </a:avLst>
          </a:prstGeom>
          <a:solidFill>
            <a:srgbClr val="FFF3E3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Rectangle 13"/>
          <p:cNvSpPr/>
          <p:nvPr/>
        </p:nvSpPr>
        <p:spPr>
          <a:xfrm>
            <a:off x="8020050" y="2476500"/>
            <a:ext cx="76200" cy="2190750"/>
          </a:xfrm>
          <a:prstGeom prst="rect">
            <a:avLst/>
          </a:prstGeom>
          <a:solidFill>
            <a:srgbClr val="C07D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Rectangle 14"/>
          <p:cNvSpPr txBox="1"/>
          <p:nvPr/>
        </p:nvSpPr>
        <p:spPr>
          <a:xfrm>
            <a:off x="8294369" y="2647950"/>
            <a:ext cx="2747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Service episode</a:t>
            </a:r>
          </a:p>
        </p:txBody>
      </p:sp>
      <p:sp>
        <p:nvSpPr>
          <p:cNvPr id="315" name="Rectangle 15"/>
          <p:cNvSpPr txBox="1"/>
          <p:nvPr/>
        </p:nvSpPr>
        <p:spPr>
          <a:xfrm>
            <a:off x="8294369" y="3086100"/>
            <a:ext cx="2747012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concrete occurrence links the practice and setting to a measured effect and a lived evaluation.</a:t>
            </a:r>
          </a:p>
        </p:txBody>
      </p:sp>
      <p:sp>
        <p:nvSpPr>
          <p:cNvPr id="316" name="Rectangle 16"/>
          <p:cNvSpPr txBox="1"/>
          <p:nvPr/>
        </p:nvSpPr>
        <p:spPr>
          <a:xfrm>
            <a:off x="1303019" y="5257800"/>
            <a:ext cx="9585962" cy="476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80000"/>
              </a:lnSpc>
              <a:defRPr b="1" sz="14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AnnoBot should therefore store cases that keep the situation intact, including context, service, measured effect, meaning, and outcome.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18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From Feedback To Inquiry</a:t>
            </a:r>
          </a:p>
        </p:txBody>
      </p:sp>
      <p:sp>
        <p:nvSpPr>
          <p:cNvPr id="322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323" name="Rectangle 3"/>
          <p:cNvSpPr txBox="1"/>
          <p:nvPr/>
        </p:nvSpPr>
        <p:spPr>
          <a:xfrm>
            <a:off x="922019" y="1314450"/>
            <a:ext cx="103479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7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Feedback shows consumption. Sufficiency inquiry asks why a service happened and what alternative deserves a test.</a:t>
            </a:r>
          </a:p>
        </p:txBody>
      </p:sp>
      <p:sp>
        <p:nvSpPr>
          <p:cNvPr id="324" name="Rounded Rectangle 4"/>
          <p:cNvSpPr/>
          <p:nvPr/>
        </p:nvSpPr>
        <p:spPr>
          <a:xfrm>
            <a:off x="933450" y="2476500"/>
            <a:ext cx="3190875" cy="2286000"/>
          </a:xfrm>
          <a:prstGeom prst="roundRect">
            <a:avLst>
              <a:gd name="adj" fmla="val 3333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5" name="Rectangle 5"/>
          <p:cNvSpPr/>
          <p:nvPr/>
        </p:nvSpPr>
        <p:spPr>
          <a:xfrm>
            <a:off x="933450" y="2476500"/>
            <a:ext cx="76200" cy="228600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Rectangle 6"/>
          <p:cNvSpPr txBox="1"/>
          <p:nvPr/>
        </p:nvSpPr>
        <p:spPr>
          <a:xfrm>
            <a:off x="1207769" y="2647950"/>
            <a:ext cx="2699387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Feedback and persuasion</a:t>
            </a:r>
          </a:p>
        </p:txBody>
      </p:sp>
      <p:sp>
        <p:nvSpPr>
          <p:cNvPr id="327" name="Rectangle 7"/>
          <p:cNvSpPr txBox="1"/>
          <p:nvPr/>
        </p:nvSpPr>
        <p:spPr>
          <a:xfrm>
            <a:off x="1207769" y="3086100"/>
            <a:ext cx="2699387" cy="1543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Information, prompts, goals, and advice can influence consumption, but effects vary across households and situations.</a:t>
            </a:r>
          </a:p>
        </p:txBody>
      </p:sp>
      <p:sp>
        <p:nvSpPr>
          <p:cNvPr id="328" name="Rounded Rectangle 8"/>
          <p:cNvSpPr/>
          <p:nvPr/>
        </p:nvSpPr>
        <p:spPr>
          <a:xfrm>
            <a:off x="4505325" y="2476500"/>
            <a:ext cx="3190875" cy="2286000"/>
          </a:xfrm>
          <a:prstGeom prst="roundRect">
            <a:avLst>
              <a:gd name="adj" fmla="val 3333"/>
            </a:avLst>
          </a:prstGeom>
          <a:solidFill>
            <a:srgbClr val="FFF3E3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9" name="Rectangle 9"/>
          <p:cNvSpPr/>
          <p:nvPr/>
        </p:nvSpPr>
        <p:spPr>
          <a:xfrm>
            <a:off x="4505325" y="2476500"/>
            <a:ext cx="76200" cy="2286000"/>
          </a:xfrm>
          <a:prstGeom prst="rect">
            <a:avLst/>
          </a:prstGeom>
          <a:solidFill>
            <a:srgbClr val="C07D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Rectangle 10"/>
          <p:cNvSpPr txBox="1"/>
          <p:nvPr/>
        </p:nvSpPr>
        <p:spPr>
          <a:xfrm>
            <a:off x="4779644" y="2647950"/>
            <a:ext cx="2699387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Automation</a:t>
            </a:r>
          </a:p>
        </p:txBody>
      </p:sp>
      <p:sp>
        <p:nvSpPr>
          <p:cNvPr id="331" name="Rectangle 11"/>
          <p:cNvSpPr txBox="1"/>
          <p:nvPr/>
        </p:nvSpPr>
        <p:spPr>
          <a:xfrm>
            <a:off x="4779644" y="3086100"/>
            <a:ext cx="2699387" cy="1543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Control works best when objectives are stable and meanings are clear. It struggles when acceptability depends on lived context.</a:t>
            </a:r>
          </a:p>
        </p:txBody>
      </p:sp>
      <p:sp>
        <p:nvSpPr>
          <p:cNvPr id="332" name="Rounded Rectangle 12"/>
          <p:cNvSpPr/>
          <p:nvPr/>
        </p:nvSpPr>
        <p:spPr>
          <a:xfrm>
            <a:off x="8077200" y="2476500"/>
            <a:ext cx="3190875" cy="2286000"/>
          </a:xfrm>
          <a:prstGeom prst="roundRect">
            <a:avLst>
              <a:gd name="adj" fmla="val 3333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Rectangle 13"/>
          <p:cNvSpPr/>
          <p:nvPr/>
        </p:nvSpPr>
        <p:spPr>
          <a:xfrm>
            <a:off x="8077200" y="2476500"/>
            <a:ext cx="76200" cy="228600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Rectangle 14"/>
          <p:cNvSpPr txBox="1"/>
          <p:nvPr/>
        </p:nvSpPr>
        <p:spPr>
          <a:xfrm>
            <a:off x="8351519" y="2647950"/>
            <a:ext cx="2699387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Situated inquiry</a:t>
            </a:r>
          </a:p>
        </p:txBody>
      </p:sp>
      <p:sp>
        <p:nvSpPr>
          <p:cNvPr id="335" name="Rectangle 15"/>
          <p:cNvSpPr txBox="1"/>
          <p:nvPr/>
        </p:nvSpPr>
        <p:spPr>
          <a:xfrm>
            <a:off x="8351519" y="3086100"/>
            <a:ext cx="2699387" cy="1543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system helps occupants reveal relations, compare cases, and test hypotheses in their own homes.</a:t>
            </a:r>
          </a:p>
        </p:txBody>
      </p:sp>
      <p:sp>
        <p:nvSpPr>
          <p:cNvPr id="336" name="Rectangle 16"/>
          <p:cNvSpPr txBox="1"/>
          <p:nvPr/>
        </p:nvSpPr>
        <p:spPr>
          <a:xfrm>
            <a:off x="1264919" y="5334000"/>
            <a:ext cx="966216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850391">
              <a:lnSpc>
                <a:spcPct val="80000"/>
              </a:lnSpc>
              <a:defRPr b="1" sz="1395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This reframes the smart building from a persuasion or control system into an instrument for household learning.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angle 18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Cases And Explanations</a:t>
            </a:r>
          </a:p>
        </p:txBody>
      </p:sp>
      <p:sp>
        <p:nvSpPr>
          <p:cNvPr id="342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343" name="Rectangle 3"/>
          <p:cNvSpPr txBox="1"/>
          <p:nvPr/>
        </p:nvSpPr>
        <p:spPr>
          <a:xfrm>
            <a:off x="960119" y="1352550"/>
            <a:ext cx="10157462" cy="5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77823">
              <a:lnSpc>
                <a:spcPct val="90000"/>
              </a:lnSpc>
              <a:defRPr b="1" sz="1727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Interpretation turns traces and annotations into comparable cases that occupants can question.</a:t>
            </a:r>
          </a:p>
        </p:txBody>
      </p:sp>
      <p:sp>
        <p:nvSpPr>
          <p:cNvPr id="344" name="Rounded Rectangle 4"/>
          <p:cNvSpPr/>
          <p:nvPr/>
        </p:nvSpPr>
        <p:spPr>
          <a:xfrm>
            <a:off x="1047750" y="2438400"/>
            <a:ext cx="3048000" cy="2143125"/>
          </a:xfrm>
          <a:prstGeom prst="roundRect">
            <a:avLst>
              <a:gd name="adj" fmla="val 3556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Rectangle 5"/>
          <p:cNvSpPr/>
          <p:nvPr/>
        </p:nvSpPr>
        <p:spPr>
          <a:xfrm>
            <a:off x="1047750" y="2438400"/>
            <a:ext cx="76200" cy="2143125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Rectangle 6"/>
          <p:cNvSpPr txBox="1"/>
          <p:nvPr/>
        </p:nvSpPr>
        <p:spPr>
          <a:xfrm>
            <a:off x="1322069" y="2609850"/>
            <a:ext cx="25565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Case memory</a:t>
            </a:r>
          </a:p>
        </p:txBody>
      </p:sp>
      <p:sp>
        <p:nvSpPr>
          <p:cNvPr id="347" name="Rectangle 7"/>
          <p:cNvSpPr txBox="1"/>
          <p:nvPr/>
        </p:nvSpPr>
        <p:spPr>
          <a:xfrm>
            <a:off x="1322069" y="3048000"/>
            <a:ext cx="2556512" cy="1400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system retrieves similar past situations instead of applying one universal rule.</a:t>
            </a:r>
          </a:p>
        </p:txBody>
      </p:sp>
      <p:sp>
        <p:nvSpPr>
          <p:cNvPr id="348" name="Rounded Rectangle 8"/>
          <p:cNvSpPr/>
          <p:nvPr/>
        </p:nvSpPr>
        <p:spPr>
          <a:xfrm>
            <a:off x="4572000" y="2438400"/>
            <a:ext cx="3048000" cy="2143125"/>
          </a:xfrm>
          <a:prstGeom prst="roundRect">
            <a:avLst>
              <a:gd name="adj" fmla="val 3556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Rectangle 9"/>
          <p:cNvSpPr/>
          <p:nvPr/>
        </p:nvSpPr>
        <p:spPr>
          <a:xfrm>
            <a:off x="4572000" y="2438400"/>
            <a:ext cx="76200" cy="2143125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Rectangle 10"/>
          <p:cNvSpPr txBox="1"/>
          <p:nvPr/>
        </p:nvSpPr>
        <p:spPr>
          <a:xfrm>
            <a:off x="4846319" y="2609850"/>
            <a:ext cx="25565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Explanation</a:t>
            </a:r>
          </a:p>
        </p:txBody>
      </p:sp>
      <p:sp>
        <p:nvSpPr>
          <p:cNvPr id="351" name="Rectangle 11"/>
          <p:cNvSpPr txBox="1"/>
          <p:nvPr/>
        </p:nvSpPr>
        <p:spPr>
          <a:xfrm>
            <a:off x="4846319" y="3048000"/>
            <a:ext cx="2556512" cy="1400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system shows why two situations look similar, why a pattern matters, or why more annotation is needed.</a:t>
            </a:r>
          </a:p>
        </p:txBody>
      </p:sp>
      <p:sp>
        <p:nvSpPr>
          <p:cNvPr id="352" name="Rounded Rectangle 12"/>
          <p:cNvSpPr/>
          <p:nvPr/>
        </p:nvSpPr>
        <p:spPr>
          <a:xfrm>
            <a:off x="8096250" y="2438400"/>
            <a:ext cx="3048000" cy="2143125"/>
          </a:xfrm>
          <a:prstGeom prst="roundRect">
            <a:avLst>
              <a:gd name="adj" fmla="val 3556"/>
            </a:avLst>
          </a:prstGeom>
          <a:solidFill>
            <a:srgbClr val="FFF3E3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3" name="Rectangle 13"/>
          <p:cNvSpPr/>
          <p:nvPr/>
        </p:nvSpPr>
        <p:spPr>
          <a:xfrm>
            <a:off x="8096250" y="2438400"/>
            <a:ext cx="76200" cy="2143125"/>
          </a:xfrm>
          <a:prstGeom prst="rect">
            <a:avLst/>
          </a:prstGeom>
          <a:solidFill>
            <a:srgbClr val="C07D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Rectangle 14"/>
          <p:cNvSpPr txBox="1"/>
          <p:nvPr/>
        </p:nvSpPr>
        <p:spPr>
          <a:xfrm>
            <a:off x="8370569" y="2609850"/>
            <a:ext cx="25565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Experiment proposal</a:t>
            </a:r>
          </a:p>
        </p:txBody>
      </p:sp>
      <p:sp>
        <p:nvSpPr>
          <p:cNvPr id="355" name="Rectangle 15"/>
          <p:cNvSpPr txBox="1"/>
          <p:nvPr/>
        </p:nvSpPr>
        <p:spPr>
          <a:xfrm>
            <a:off x="8370569" y="3048000"/>
            <a:ext cx="2556512" cy="1400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proposed change remains a hypothesis until the occupant tests comfort, cost, timing, and acceptability.</a:t>
            </a:r>
          </a:p>
        </p:txBody>
      </p:sp>
      <p:sp>
        <p:nvSpPr>
          <p:cNvPr id="356" name="Rectangle 16"/>
          <p:cNvSpPr txBox="1"/>
          <p:nvPr/>
        </p:nvSpPr>
        <p:spPr>
          <a:xfrm>
            <a:off x="1226819" y="5257800"/>
            <a:ext cx="9738362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905255">
              <a:lnSpc>
                <a:spcPct val="80000"/>
              </a:lnSpc>
              <a:defRPr b="1" sz="1485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Explanations matter because trust depends on whether occupants can inspect the system's reasons and limits.</a:t>
            </a:r>
          </a:p>
        </p:txBody>
      </p:sp>
      <p:sp>
        <p:nvSpPr>
          <p:cNvPr id="357" name="Rectangle 17"/>
          <p:cNvSpPr txBox="1"/>
          <p:nvPr/>
        </p:nvSpPr>
        <p:spPr>
          <a:xfrm>
            <a:off x="864869" y="6153150"/>
            <a:ext cx="98907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i="1" sz="8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Refs: Das et al. 2021; Fiori et al. 2024; Boulmaiz 2024; ERSS manuscript, sections 5.3 and 6.3.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18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2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Autonomy, Burden, And Privacy</a:t>
            </a:r>
          </a:p>
        </p:txBody>
      </p:sp>
      <p:sp>
        <p:nvSpPr>
          <p:cNvPr id="363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364" name="Rectangle 3"/>
          <p:cNvSpPr txBox="1"/>
          <p:nvPr/>
        </p:nvSpPr>
        <p:spPr>
          <a:xfrm>
            <a:off x="960119" y="1352550"/>
            <a:ext cx="10157462" cy="5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80000"/>
              </a:lnSpc>
              <a:defRPr b="1" sz="17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listening building must preserve the conditions that make participation acceptable.</a:t>
            </a:r>
          </a:p>
        </p:txBody>
      </p:sp>
      <p:sp>
        <p:nvSpPr>
          <p:cNvPr id="365" name="Rounded Rectangle 4"/>
          <p:cNvSpPr/>
          <p:nvPr/>
        </p:nvSpPr>
        <p:spPr>
          <a:xfrm>
            <a:off x="914400" y="2400300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Rectangle 5"/>
          <p:cNvSpPr/>
          <p:nvPr/>
        </p:nvSpPr>
        <p:spPr>
          <a:xfrm>
            <a:off x="914400" y="2400300"/>
            <a:ext cx="76200" cy="219075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7" name="Rectangle 6"/>
          <p:cNvSpPr txBox="1"/>
          <p:nvPr/>
        </p:nvSpPr>
        <p:spPr>
          <a:xfrm>
            <a:off x="1188719" y="2571750"/>
            <a:ext cx="26517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Autonomy</a:t>
            </a:r>
          </a:p>
        </p:txBody>
      </p:sp>
      <p:sp>
        <p:nvSpPr>
          <p:cNvPr id="368" name="Rectangle 7"/>
          <p:cNvSpPr txBox="1"/>
          <p:nvPr/>
        </p:nvSpPr>
        <p:spPr>
          <a:xfrm>
            <a:off x="1188719" y="3009900"/>
            <a:ext cx="2651762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Occupants define questions, judge sufficiency, and choose whether an experiment fits their constraints.</a:t>
            </a:r>
          </a:p>
        </p:txBody>
      </p:sp>
      <p:sp>
        <p:nvSpPr>
          <p:cNvPr id="369" name="Rounded Rectangle 8"/>
          <p:cNvSpPr/>
          <p:nvPr/>
        </p:nvSpPr>
        <p:spPr>
          <a:xfrm>
            <a:off x="4524375" y="2400300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Rectangle 9"/>
          <p:cNvSpPr/>
          <p:nvPr/>
        </p:nvSpPr>
        <p:spPr>
          <a:xfrm>
            <a:off x="4524375" y="2400300"/>
            <a:ext cx="76200" cy="219075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Rectangle 10"/>
          <p:cNvSpPr txBox="1"/>
          <p:nvPr/>
        </p:nvSpPr>
        <p:spPr>
          <a:xfrm>
            <a:off x="4798694" y="2571750"/>
            <a:ext cx="26517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Low burden</a:t>
            </a:r>
          </a:p>
        </p:txBody>
      </p:sp>
      <p:sp>
        <p:nvSpPr>
          <p:cNvPr id="372" name="Rectangle 11"/>
          <p:cNvSpPr txBox="1"/>
          <p:nvPr/>
        </p:nvSpPr>
        <p:spPr>
          <a:xfrm>
            <a:off x="4798694" y="3009900"/>
            <a:ext cx="2651762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system asks selectively and reuses past labelled cases instead of requesting constant manual labels.</a:t>
            </a:r>
          </a:p>
        </p:txBody>
      </p:sp>
      <p:sp>
        <p:nvSpPr>
          <p:cNvPr id="373" name="Rounded Rectangle 12"/>
          <p:cNvSpPr/>
          <p:nvPr/>
        </p:nvSpPr>
        <p:spPr>
          <a:xfrm>
            <a:off x="8134350" y="2400300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FBECEC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Rectangle 13"/>
          <p:cNvSpPr/>
          <p:nvPr/>
        </p:nvSpPr>
        <p:spPr>
          <a:xfrm>
            <a:off x="8134350" y="2400300"/>
            <a:ext cx="76200" cy="2190750"/>
          </a:xfrm>
          <a:prstGeom prst="rect">
            <a:avLst/>
          </a:prstGeom>
          <a:solidFill>
            <a:srgbClr val="B04A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5" name="Rectangle 14"/>
          <p:cNvSpPr txBox="1"/>
          <p:nvPr/>
        </p:nvSpPr>
        <p:spPr>
          <a:xfrm>
            <a:off x="8408669" y="2571750"/>
            <a:ext cx="26517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Privacy</a:t>
            </a:r>
          </a:p>
        </p:txBody>
      </p:sp>
      <p:sp>
        <p:nvSpPr>
          <p:cNvPr id="376" name="Rectangle 15"/>
          <p:cNvSpPr txBox="1"/>
          <p:nvPr/>
        </p:nvSpPr>
        <p:spPr>
          <a:xfrm>
            <a:off x="8408669" y="3009900"/>
            <a:ext cx="2651762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Ambient and energy sensors reduce intrusiveness, but annotations can reveal sensitive domestic meanings.</a:t>
            </a:r>
          </a:p>
        </p:txBody>
      </p:sp>
      <p:sp>
        <p:nvSpPr>
          <p:cNvPr id="377" name="Rectangle 16"/>
          <p:cNvSpPr txBox="1"/>
          <p:nvPr/>
        </p:nvSpPr>
        <p:spPr>
          <a:xfrm>
            <a:off x="1303019" y="5219700"/>
            <a:ext cx="9585962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b="1" sz="13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Responsible implementation needs clear data governance and the ability to explain why a question is being asked.</a:t>
            </a:r>
          </a:p>
        </p:txBody>
      </p:sp>
      <p:sp>
        <p:nvSpPr>
          <p:cNvPr id="378" name="Rectangle 17"/>
          <p:cNvSpPr txBox="1"/>
          <p:nvPr/>
        </p:nvSpPr>
        <p:spPr>
          <a:xfrm>
            <a:off x="864869" y="6153150"/>
            <a:ext cx="989076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i="1" sz="8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Refs: Suboticki et al. 2019; Silva et al. 2022; Demrozi et al. 2023; Tan et al. 2024; Annotation_System.pdf, sections 1 and 4.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Rectangle 18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3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Human-In-The-Loop Learning</a:t>
            </a:r>
          </a:p>
        </p:txBody>
      </p:sp>
      <p:sp>
        <p:nvSpPr>
          <p:cNvPr id="384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grpSp>
        <p:nvGrpSpPr>
          <p:cNvPr id="387" name="Rounded Rectangle 3"/>
          <p:cNvGrpSpPr/>
          <p:nvPr/>
        </p:nvGrpSpPr>
        <p:grpSpPr>
          <a:xfrm>
            <a:off x="914400" y="1314450"/>
            <a:ext cx="2381250" cy="342900"/>
            <a:chOff x="0" y="0"/>
            <a:chExt cx="2381250" cy="342900"/>
          </a:xfrm>
        </p:grpSpPr>
        <p:sp>
          <p:nvSpPr>
            <p:cNvPr id="385" name="Rounded Rectangle"/>
            <p:cNvSpPr/>
            <p:nvPr/>
          </p:nvSpPr>
          <p:spPr>
            <a:xfrm>
              <a:off x="0" y="0"/>
              <a:ext cx="2381250" cy="342900"/>
            </a:xfrm>
            <a:prstGeom prst="roundRect">
              <a:avLst>
                <a:gd name="adj" fmla="val 50000"/>
              </a:avLst>
            </a:prstGeom>
            <a:solidFill>
              <a:srgbClr val="1F77B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90000"/>
                </a:lnSpc>
                <a:defRPr b="1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6" name="Current AnnoBot feature"/>
            <p:cNvSpPr txBox="1"/>
            <p:nvPr/>
          </p:nvSpPr>
          <p:spPr>
            <a:xfrm>
              <a:off x="95936" y="50215"/>
              <a:ext cx="2189378" cy="242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 fontScale="100000" lnSpcReduction="0"/>
            </a:bodyPr>
            <a:lstStyle>
              <a:lvl1pPr algn="ctr">
                <a:lnSpc>
                  <a:spcPct val="90000"/>
                </a:lnSpc>
                <a:def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Current AnnoBot feature</a:t>
              </a:r>
            </a:p>
          </p:txBody>
        </p:sp>
      </p:grpSp>
      <p:sp>
        <p:nvSpPr>
          <p:cNvPr id="388" name="Rectangle 4"/>
          <p:cNvSpPr txBox="1"/>
          <p:nvPr/>
        </p:nvSpPr>
        <p:spPr>
          <a:xfrm>
            <a:off x="960119" y="1809750"/>
            <a:ext cx="10005062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77823">
              <a:lnSpc>
                <a:spcPct val="80000"/>
              </a:lnSpc>
              <a:defRPr b="1" sz="1824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implemented annotation pipeline links sensor context to occupant-provided meaning.</a:t>
            </a:r>
          </a:p>
        </p:txBody>
      </p:sp>
      <p:sp>
        <p:nvSpPr>
          <p:cNvPr id="389" name="Rounded Rectangle 5"/>
          <p:cNvSpPr/>
          <p:nvPr/>
        </p:nvSpPr>
        <p:spPr>
          <a:xfrm>
            <a:off x="895350" y="285750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Rectangle 6"/>
          <p:cNvSpPr/>
          <p:nvPr/>
        </p:nvSpPr>
        <p:spPr>
          <a:xfrm>
            <a:off x="895350" y="2857500"/>
            <a:ext cx="76200" cy="180975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1" name="Rectangle 7"/>
          <p:cNvSpPr txBox="1"/>
          <p:nvPr/>
        </p:nvSpPr>
        <p:spPr>
          <a:xfrm>
            <a:off x="1169669" y="3028950"/>
            <a:ext cx="26517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 Data collection</a:t>
            </a:r>
          </a:p>
        </p:txBody>
      </p:sp>
      <p:sp>
        <p:nvSpPr>
          <p:cNvPr id="392" name="Rectangle 8"/>
          <p:cNvSpPr txBox="1"/>
          <p:nvPr/>
        </p:nvSpPr>
        <p:spPr>
          <a:xfrm>
            <a:off x="1169669" y="3467100"/>
            <a:ext cx="2651762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Acquire relevant sensor events and convert them into comparable timeslots.</a:t>
            </a:r>
          </a:p>
        </p:txBody>
      </p:sp>
      <p:sp>
        <p:nvSpPr>
          <p:cNvPr id="393" name="Rounded Rectangle 9"/>
          <p:cNvSpPr/>
          <p:nvPr/>
        </p:nvSpPr>
        <p:spPr>
          <a:xfrm>
            <a:off x="4524375" y="285750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4" name="Rectangle 10"/>
          <p:cNvSpPr/>
          <p:nvPr/>
        </p:nvSpPr>
        <p:spPr>
          <a:xfrm>
            <a:off x="4524375" y="2857500"/>
            <a:ext cx="76200" cy="180975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Rectangle 11"/>
          <p:cNvSpPr txBox="1"/>
          <p:nvPr/>
        </p:nvSpPr>
        <p:spPr>
          <a:xfrm>
            <a:off x="4798694" y="3028950"/>
            <a:ext cx="26517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 Label assignment</a:t>
            </a:r>
          </a:p>
        </p:txBody>
      </p:sp>
      <p:sp>
        <p:nvSpPr>
          <p:cNvPr id="396" name="Rectangle 12"/>
          <p:cNvSpPr txBox="1"/>
          <p:nvPr/>
        </p:nvSpPr>
        <p:spPr>
          <a:xfrm>
            <a:off x="4798694" y="3467100"/>
            <a:ext cx="2651762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Use interactive learning and LLM dialogue to collect required semantic fields.</a:t>
            </a:r>
          </a:p>
        </p:txBody>
      </p:sp>
      <p:sp>
        <p:nvSpPr>
          <p:cNvPr id="397" name="Rounded Rectangle 13"/>
          <p:cNvSpPr/>
          <p:nvPr/>
        </p:nvSpPr>
        <p:spPr>
          <a:xfrm>
            <a:off x="8153400" y="285750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FF3E3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Rectangle 14"/>
          <p:cNvSpPr/>
          <p:nvPr/>
        </p:nvSpPr>
        <p:spPr>
          <a:xfrm>
            <a:off x="8153400" y="2857500"/>
            <a:ext cx="76200" cy="1809750"/>
          </a:xfrm>
          <a:prstGeom prst="rect">
            <a:avLst/>
          </a:prstGeom>
          <a:solidFill>
            <a:srgbClr val="C07D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9" name="Rectangle 15"/>
          <p:cNvSpPr txBox="1"/>
          <p:nvPr/>
        </p:nvSpPr>
        <p:spPr>
          <a:xfrm>
            <a:off x="8427719" y="3028950"/>
            <a:ext cx="26517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3. Quality control</a:t>
            </a:r>
          </a:p>
        </p:txBody>
      </p:sp>
      <p:sp>
        <p:nvSpPr>
          <p:cNvPr id="400" name="Rectangle 16"/>
          <p:cNvSpPr txBox="1"/>
          <p:nvPr/>
        </p:nvSpPr>
        <p:spPr>
          <a:xfrm>
            <a:off x="8427719" y="3467100"/>
            <a:ext cx="2651762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Check completeness and revisit uncertain or conflicting annotations.</a:t>
            </a:r>
          </a:p>
        </p:txBody>
      </p:sp>
      <p:sp>
        <p:nvSpPr>
          <p:cNvPr id="401" name="Rectangle 17"/>
          <p:cNvSpPr txBox="1"/>
          <p:nvPr/>
        </p:nvSpPr>
        <p:spPr>
          <a:xfrm>
            <a:off x="1283969" y="5334000"/>
            <a:ext cx="962406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6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pipeline supports cooperative repair instead of treating missing labels as simple errors.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Rectangle 19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6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When AnnoBot Asks</a:t>
            </a:r>
          </a:p>
        </p:txBody>
      </p:sp>
      <p:sp>
        <p:nvSpPr>
          <p:cNvPr id="407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grpSp>
        <p:nvGrpSpPr>
          <p:cNvPr id="410" name="Rounded Rectangle 3"/>
          <p:cNvGrpSpPr/>
          <p:nvPr/>
        </p:nvGrpSpPr>
        <p:grpSpPr>
          <a:xfrm>
            <a:off x="914400" y="1314450"/>
            <a:ext cx="2381250" cy="342900"/>
            <a:chOff x="0" y="0"/>
            <a:chExt cx="2381250" cy="342900"/>
          </a:xfrm>
        </p:grpSpPr>
        <p:sp>
          <p:nvSpPr>
            <p:cNvPr id="408" name="Rounded Rectangle"/>
            <p:cNvSpPr/>
            <p:nvPr/>
          </p:nvSpPr>
          <p:spPr>
            <a:xfrm>
              <a:off x="0" y="0"/>
              <a:ext cx="2381250" cy="342900"/>
            </a:xfrm>
            <a:prstGeom prst="roundRect">
              <a:avLst>
                <a:gd name="adj" fmla="val 50000"/>
              </a:avLst>
            </a:prstGeom>
            <a:solidFill>
              <a:srgbClr val="1F77B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90000"/>
                </a:lnSpc>
                <a:defRPr b="1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09" name="Current AnnoBot feature"/>
            <p:cNvSpPr txBox="1"/>
            <p:nvPr/>
          </p:nvSpPr>
          <p:spPr>
            <a:xfrm>
              <a:off x="95936" y="50215"/>
              <a:ext cx="2189378" cy="242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 fontScale="100000" lnSpcReduction="0"/>
            </a:bodyPr>
            <a:lstStyle>
              <a:lvl1pPr algn="ctr">
                <a:lnSpc>
                  <a:spcPct val="90000"/>
                </a:lnSpc>
                <a:def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Current AnnoBot feature</a:t>
              </a:r>
            </a:p>
          </p:txBody>
        </p:sp>
      </p:grpSp>
      <p:sp>
        <p:nvSpPr>
          <p:cNvPr id="411" name="Rectangle 4"/>
          <p:cNvSpPr txBox="1"/>
          <p:nvPr/>
        </p:nvSpPr>
        <p:spPr>
          <a:xfrm>
            <a:off x="960119" y="1809750"/>
            <a:ext cx="10005062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Current trigger logic asks when the local labelled neighbourhood is too sparse.</a:t>
            </a:r>
          </a:p>
        </p:txBody>
      </p:sp>
      <p:sp>
        <p:nvSpPr>
          <p:cNvPr id="412" name="Rounded Rectangle 5"/>
          <p:cNvSpPr/>
          <p:nvPr/>
        </p:nvSpPr>
        <p:spPr>
          <a:xfrm>
            <a:off x="1000125" y="2705100"/>
            <a:ext cx="4476750" cy="2362200"/>
          </a:xfrm>
          <a:prstGeom prst="roundRect">
            <a:avLst>
              <a:gd name="adj" fmla="val 3226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3" name="Oval 6"/>
          <p:cNvSpPr/>
          <p:nvPr/>
        </p:nvSpPr>
        <p:spPr>
          <a:xfrm>
            <a:off x="1809749" y="3476624"/>
            <a:ext cx="123828" cy="123828"/>
          </a:xfrm>
          <a:prstGeom prst="ellipse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4" name="Oval 7"/>
          <p:cNvSpPr/>
          <p:nvPr/>
        </p:nvSpPr>
        <p:spPr>
          <a:xfrm>
            <a:off x="2333624" y="3143249"/>
            <a:ext cx="123828" cy="123828"/>
          </a:xfrm>
          <a:prstGeom prst="ellipse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5" name="Oval 8"/>
          <p:cNvSpPr/>
          <p:nvPr/>
        </p:nvSpPr>
        <p:spPr>
          <a:xfrm>
            <a:off x="2686049" y="3667124"/>
            <a:ext cx="123828" cy="123828"/>
          </a:xfrm>
          <a:prstGeom prst="ellipse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Oval 9"/>
          <p:cNvSpPr/>
          <p:nvPr/>
        </p:nvSpPr>
        <p:spPr>
          <a:xfrm>
            <a:off x="3095624" y="3276599"/>
            <a:ext cx="123828" cy="123828"/>
          </a:xfrm>
          <a:prstGeom prst="ellipse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7" name="Oval 10"/>
          <p:cNvSpPr/>
          <p:nvPr/>
        </p:nvSpPr>
        <p:spPr>
          <a:xfrm>
            <a:off x="2476499" y="4000499"/>
            <a:ext cx="123828" cy="123828"/>
          </a:xfrm>
          <a:prstGeom prst="ellipse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8" name="Oval 11"/>
          <p:cNvSpPr/>
          <p:nvPr/>
        </p:nvSpPr>
        <p:spPr>
          <a:xfrm>
            <a:off x="3409949" y="3829049"/>
            <a:ext cx="123828" cy="123828"/>
          </a:xfrm>
          <a:prstGeom prst="ellipse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9" name="Oval 12"/>
          <p:cNvSpPr/>
          <p:nvPr/>
        </p:nvSpPr>
        <p:spPr>
          <a:xfrm>
            <a:off x="4533900" y="4333875"/>
            <a:ext cx="171450" cy="171450"/>
          </a:xfrm>
          <a:prstGeom prst="ellipse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0" name="Rectangle 13"/>
          <p:cNvSpPr txBox="1"/>
          <p:nvPr/>
        </p:nvSpPr>
        <p:spPr>
          <a:xfrm>
            <a:off x="1512569" y="4552950"/>
            <a:ext cx="219456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sz="11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well-supported context</a:t>
            </a:r>
          </a:p>
        </p:txBody>
      </p:sp>
      <p:sp>
        <p:nvSpPr>
          <p:cNvPr id="421" name="Rectangle 14"/>
          <p:cNvSpPr txBox="1"/>
          <p:nvPr/>
        </p:nvSpPr>
        <p:spPr>
          <a:xfrm>
            <a:off x="4141469" y="4552950"/>
            <a:ext cx="7658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b="1" sz="1100">
                <a:solidFill>
                  <a:srgbClr val="39A96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ASK</a:t>
            </a:r>
          </a:p>
        </p:txBody>
      </p:sp>
      <p:sp>
        <p:nvSpPr>
          <p:cNvPr id="422" name="Rounded Rectangle 15"/>
          <p:cNvSpPr/>
          <p:nvPr/>
        </p:nvSpPr>
        <p:spPr>
          <a:xfrm>
            <a:off x="6286500" y="2705100"/>
            <a:ext cx="47625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3" name="Rectangle 16"/>
          <p:cNvSpPr/>
          <p:nvPr/>
        </p:nvSpPr>
        <p:spPr>
          <a:xfrm>
            <a:off x="6286500" y="2705100"/>
            <a:ext cx="76200" cy="236220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4" name="Rectangle 17"/>
          <p:cNvSpPr txBox="1"/>
          <p:nvPr/>
        </p:nvSpPr>
        <p:spPr>
          <a:xfrm>
            <a:off x="6560819" y="2876550"/>
            <a:ext cx="4271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Prototype settings</a:t>
            </a:r>
          </a:p>
        </p:txBody>
      </p:sp>
      <p:sp>
        <p:nvSpPr>
          <p:cNvPr id="425" name="Rectangle 18"/>
          <p:cNvSpPr txBox="1"/>
          <p:nvPr/>
        </p:nvSpPr>
        <p:spPr>
          <a:xfrm>
            <a:off x="6560819" y="3314700"/>
            <a:ext cx="4271012" cy="161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Distance-based neighbourhood after feature normalization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Ask if fewer than 3 labelled neighbours are found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Radius epsilon = 0.3, minimum neighbours = 3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Error, redundancy, and spread criteria remain defined but inactive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Rectangle 13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0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Interaction Modes</a:t>
            </a:r>
          </a:p>
        </p:txBody>
      </p:sp>
      <p:sp>
        <p:nvSpPr>
          <p:cNvPr id="431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432" name="Rectangle 3"/>
          <p:cNvSpPr txBox="1"/>
          <p:nvPr/>
        </p:nvSpPr>
        <p:spPr>
          <a:xfrm>
            <a:off x="960119" y="1352550"/>
            <a:ext cx="10157462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Listening requires both reflective review and real-time dialogue.</a:t>
            </a:r>
          </a:p>
        </p:txBody>
      </p:sp>
      <p:sp>
        <p:nvSpPr>
          <p:cNvPr id="433" name="Rounded Rectangle 4"/>
          <p:cNvSpPr/>
          <p:nvPr/>
        </p:nvSpPr>
        <p:spPr>
          <a:xfrm>
            <a:off x="1143000" y="2476500"/>
            <a:ext cx="4381500" cy="2000250"/>
          </a:xfrm>
          <a:prstGeom prst="roundRect">
            <a:avLst>
              <a:gd name="adj" fmla="val 3810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4" name="Rectangle 5"/>
          <p:cNvSpPr/>
          <p:nvPr/>
        </p:nvSpPr>
        <p:spPr>
          <a:xfrm>
            <a:off x="1143000" y="2476500"/>
            <a:ext cx="76200" cy="200025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5" name="Rectangle 6"/>
          <p:cNvSpPr txBox="1"/>
          <p:nvPr/>
        </p:nvSpPr>
        <p:spPr>
          <a:xfrm>
            <a:off x="1417319" y="2647950"/>
            <a:ext cx="3890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System-initiated</a:t>
            </a:r>
          </a:p>
        </p:txBody>
      </p:sp>
      <p:sp>
        <p:nvSpPr>
          <p:cNvPr id="436" name="Rectangle 7"/>
          <p:cNvSpPr txBox="1"/>
          <p:nvPr/>
        </p:nvSpPr>
        <p:spPr>
          <a:xfrm>
            <a:off x="1417319" y="3086100"/>
            <a:ext cx="3890012" cy="1257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AnnoBot asks, proposes, or confirms when a timeslot needs human meaning.</a:t>
            </a:r>
          </a:p>
        </p:txBody>
      </p:sp>
      <p:sp>
        <p:nvSpPr>
          <p:cNvPr id="437" name="Rounded Rectangle 8"/>
          <p:cNvSpPr/>
          <p:nvPr/>
        </p:nvSpPr>
        <p:spPr>
          <a:xfrm>
            <a:off x="6667500" y="2476500"/>
            <a:ext cx="4381500" cy="2000250"/>
          </a:xfrm>
          <a:prstGeom prst="roundRect">
            <a:avLst>
              <a:gd name="adj" fmla="val 3810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8" name="Rectangle 9"/>
          <p:cNvSpPr/>
          <p:nvPr/>
        </p:nvSpPr>
        <p:spPr>
          <a:xfrm>
            <a:off x="6667500" y="2476500"/>
            <a:ext cx="76200" cy="200025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9" name="Rectangle 10"/>
          <p:cNvSpPr txBox="1"/>
          <p:nvPr/>
        </p:nvSpPr>
        <p:spPr>
          <a:xfrm>
            <a:off x="6941819" y="2647950"/>
            <a:ext cx="3890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Occupant-initiated</a:t>
            </a:r>
          </a:p>
        </p:txBody>
      </p:sp>
      <p:sp>
        <p:nvSpPr>
          <p:cNvPr id="440" name="Rectangle 11"/>
          <p:cNvSpPr txBox="1"/>
          <p:nvPr/>
        </p:nvSpPr>
        <p:spPr>
          <a:xfrm>
            <a:off x="6941819" y="3086100"/>
            <a:ext cx="3890012" cy="1257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occupant asks questions, requests explanations, or reviews past cases.</a:t>
            </a:r>
          </a:p>
        </p:txBody>
      </p:sp>
      <p:sp>
        <p:nvSpPr>
          <p:cNvPr id="441" name="Rectangle 12"/>
          <p:cNvSpPr txBox="1"/>
          <p:nvPr/>
        </p:nvSpPr>
        <p:spPr>
          <a:xfrm>
            <a:off x="1264919" y="5219700"/>
            <a:ext cx="9662162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80000"/>
              </a:lnSpc>
              <a:defRPr b="1" sz="15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cooperative system can explain why it asks and can report limits when sensors cannot distinguish a situation.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Rectangle 17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6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AnnoBot Scope</a:t>
            </a:r>
          </a:p>
        </p:txBody>
      </p:sp>
      <p:sp>
        <p:nvSpPr>
          <p:cNvPr id="447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448" name="Rectangle 3"/>
          <p:cNvSpPr txBox="1"/>
          <p:nvPr/>
        </p:nvSpPr>
        <p:spPr>
          <a:xfrm>
            <a:off x="960119" y="1314450"/>
            <a:ext cx="10081262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80000"/>
              </a:lnSpc>
              <a:defRPr b="1" sz="16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AnnoBot implements the annotation and interaction layer of the wider listening-building framework.</a:t>
            </a:r>
          </a:p>
        </p:txBody>
      </p:sp>
      <p:sp>
        <p:nvSpPr>
          <p:cNvPr id="449" name="Rounded Rectangle 4"/>
          <p:cNvSpPr/>
          <p:nvPr/>
        </p:nvSpPr>
        <p:spPr>
          <a:xfrm>
            <a:off x="781050" y="2476500"/>
            <a:ext cx="3257550" cy="2571750"/>
          </a:xfrm>
          <a:prstGeom prst="roundRect">
            <a:avLst>
              <a:gd name="adj" fmla="val 2963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0" name="Rectangle 5"/>
          <p:cNvSpPr/>
          <p:nvPr/>
        </p:nvSpPr>
        <p:spPr>
          <a:xfrm>
            <a:off x="781050" y="2476500"/>
            <a:ext cx="76200" cy="257175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1" name="Rectangle 6"/>
          <p:cNvSpPr txBox="1"/>
          <p:nvPr/>
        </p:nvSpPr>
        <p:spPr>
          <a:xfrm>
            <a:off x="1055369" y="2647950"/>
            <a:ext cx="27660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Implemented now</a:t>
            </a:r>
          </a:p>
        </p:txBody>
      </p:sp>
      <p:sp>
        <p:nvSpPr>
          <p:cNvPr id="452" name="Rectangle 7"/>
          <p:cNvSpPr txBox="1"/>
          <p:nvPr/>
        </p:nvSpPr>
        <p:spPr>
          <a:xfrm>
            <a:off x="1055369" y="3086100"/>
            <a:ext cx="2766062" cy="182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Experiment creation by chat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Sensor registration through backend mapping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Telegram questions and reply parsing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Structured annotation records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Dashboard visualization</a:t>
            </a:r>
          </a:p>
        </p:txBody>
      </p:sp>
      <p:sp>
        <p:nvSpPr>
          <p:cNvPr id="453" name="Rounded Rectangle 8"/>
          <p:cNvSpPr/>
          <p:nvPr/>
        </p:nvSpPr>
        <p:spPr>
          <a:xfrm>
            <a:off x="4562475" y="2476500"/>
            <a:ext cx="3257550" cy="2571750"/>
          </a:xfrm>
          <a:prstGeom prst="roundRect">
            <a:avLst>
              <a:gd name="adj" fmla="val 2963"/>
            </a:avLst>
          </a:prstGeom>
          <a:solidFill>
            <a:srgbClr val="FFF3E3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4" name="Rectangle 9"/>
          <p:cNvSpPr/>
          <p:nvPr/>
        </p:nvSpPr>
        <p:spPr>
          <a:xfrm>
            <a:off x="4562475" y="2476500"/>
            <a:ext cx="76200" cy="2571750"/>
          </a:xfrm>
          <a:prstGeom prst="rect">
            <a:avLst/>
          </a:prstGeom>
          <a:solidFill>
            <a:srgbClr val="C07D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5" name="Rectangle 10"/>
          <p:cNvSpPr txBox="1"/>
          <p:nvPr/>
        </p:nvSpPr>
        <p:spPr>
          <a:xfrm>
            <a:off x="4836794" y="2647950"/>
            <a:ext cx="27660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Partly implemented</a:t>
            </a:r>
          </a:p>
        </p:txBody>
      </p:sp>
      <p:sp>
        <p:nvSpPr>
          <p:cNvPr id="456" name="Rectangle 11"/>
          <p:cNvSpPr txBox="1"/>
          <p:nvPr/>
        </p:nvSpPr>
        <p:spPr>
          <a:xfrm>
            <a:off x="4836794" y="3086100"/>
            <a:ext cx="2766062" cy="182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Selective triggering through neighbourhood density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Follow-up questions for incomplete replies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Case search through stored embeddings</a:t>
            </a:r>
          </a:p>
        </p:txBody>
      </p:sp>
      <p:sp>
        <p:nvSpPr>
          <p:cNvPr id="457" name="Rounded Rectangle 12"/>
          <p:cNvSpPr/>
          <p:nvPr/>
        </p:nvSpPr>
        <p:spPr>
          <a:xfrm>
            <a:off x="8343900" y="2476500"/>
            <a:ext cx="3257550" cy="2571750"/>
          </a:xfrm>
          <a:prstGeom prst="roundRect">
            <a:avLst>
              <a:gd name="adj" fmla="val 2963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8" name="Rectangle 13"/>
          <p:cNvSpPr/>
          <p:nvPr/>
        </p:nvSpPr>
        <p:spPr>
          <a:xfrm>
            <a:off x="8343900" y="2476500"/>
            <a:ext cx="76200" cy="257175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9" name="Rectangle 14"/>
          <p:cNvSpPr txBox="1"/>
          <p:nvPr/>
        </p:nvSpPr>
        <p:spPr>
          <a:xfrm>
            <a:off x="8618219" y="2647950"/>
            <a:ext cx="276606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Conceptual or future work</a:t>
            </a:r>
          </a:p>
        </p:txBody>
      </p:sp>
      <p:sp>
        <p:nvSpPr>
          <p:cNvPr id="460" name="Rectangle 15"/>
          <p:cNvSpPr txBox="1"/>
          <p:nvPr/>
        </p:nvSpPr>
        <p:spPr>
          <a:xfrm>
            <a:off x="8618219" y="3086100"/>
            <a:ext cx="2766062" cy="182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Full service-sufficiency decision support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Case explanations for occupants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Longitudinal household appropriation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Integrated observe to revise validation</a:t>
            </a:r>
          </a:p>
        </p:txBody>
      </p:sp>
      <p:sp>
        <p:nvSpPr>
          <p:cNvPr id="461" name="Rectangle 16"/>
          <p:cNvSpPr txBox="1"/>
          <p:nvPr/>
        </p:nvSpPr>
        <p:spPr>
          <a:xfrm>
            <a:off x="1341119" y="5581650"/>
            <a:ext cx="950976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6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This boundary keeps the prototype credible while showing how it fits the theoretical ambition.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Rectangle 36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6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467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</a:t>
            </a:r>
          </a:p>
        </p:txBody>
      </p:sp>
      <p:grpSp>
        <p:nvGrpSpPr>
          <p:cNvPr id="470" name="Rounded Rectangle 3"/>
          <p:cNvGrpSpPr/>
          <p:nvPr/>
        </p:nvGrpSpPr>
        <p:grpSpPr>
          <a:xfrm>
            <a:off x="914400" y="1314450"/>
            <a:ext cx="2381250" cy="342900"/>
            <a:chOff x="0" y="0"/>
            <a:chExt cx="2381250" cy="342900"/>
          </a:xfrm>
        </p:grpSpPr>
        <p:sp>
          <p:nvSpPr>
            <p:cNvPr id="468" name="Rounded Rectangle"/>
            <p:cNvSpPr/>
            <p:nvPr/>
          </p:nvSpPr>
          <p:spPr>
            <a:xfrm>
              <a:off x="0" y="0"/>
              <a:ext cx="2381250" cy="342900"/>
            </a:xfrm>
            <a:prstGeom prst="roundRect">
              <a:avLst>
                <a:gd name="adj" fmla="val 50000"/>
              </a:avLst>
            </a:prstGeom>
            <a:solidFill>
              <a:srgbClr val="1F77B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90000"/>
                </a:lnSpc>
                <a:defRPr b="1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9" name="Current AnnoBot feature"/>
            <p:cNvSpPr txBox="1"/>
            <p:nvPr/>
          </p:nvSpPr>
          <p:spPr>
            <a:xfrm>
              <a:off x="95936" y="50215"/>
              <a:ext cx="2189378" cy="242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 fontScale="100000" lnSpcReduction="0"/>
            </a:bodyPr>
            <a:lstStyle>
              <a:lvl1pPr algn="ctr">
                <a:lnSpc>
                  <a:spcPct val="90000"/>
                </a:lnSpc>
                <a:def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Current AnnoBot feature</a:t>
              </a:r>
            </a:p>
          </p:txBody>
        </p:sp>
      </p:grpSp>
      <p:sp>
        <p:nvSpPr>
          <p:cNvPr id="471" name="Rounded Rectangle 4"/>
          <p:cNvSpPr/>
          <p:nvPr/>
        </p:nvSpPr>
        <p:spPr>
          <a:xfrm>
            <a:off x="685800" y="323850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2" name="Rectangle 5"/>
          <p:cNvSpPr/>
          <p:nvPr/>
        </p:nvSpPr>
        <p:spPr>
          <a:xfrm>
            <a:off x="685800" y="3238500"/>
            <a:ext cx="76200" cy="110490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3" name="Rectangle 6"/>
          <p:cNvSpPr txBox="1"/>
          <p:nvPr/>
        </p:nvSpPr>
        <p:spPr>
          <a:xfrm>
            <a:off x="960119" y="3409950"/>
            <a:ext cx="1604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Telegram</a:t>
            </a:r>
          </a:p>
        </p:txBody>
      </p:sp>
      <p:sp>
        <p:nvSpPr>
          <p:cNvPr id="474" name="Rectangle 7"/>
          <p:cNvSpPr txBox="1"/>
          <p:nvPr/>
        </p:nvSpPr>
        <p:spPr>
          <a:xfrm>
            <a:off x="960119" y="3848100"/>
            <a:ext cx="1604012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Occupant interface</a:t>
            </a:r>
          </a:p>
        </p:txBody>
      </p:sp>
      <p:sp>
        <p:nvSpPr>
          <p:cNvPr id="475" name="Rounded Rectangle 8"/>
          <p:cNvSpPr/>
          <p:nvPr/>
        </p:nvSpPr>
        <p:spPr>
          <a:xfrm>
            <a:off x="3333750" y="209550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6" name="Rectangle 9"/>
          <p:cNvSpPr/>
          <p:nvPr/>
        </p:nvSpPr>
        <p:spPr>
          <a:xfrm>
            <a:off x="3333750" y="2095500"/>
            <a:ext cx="76200" cy="110490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7" name="Rectangle 10"/>
          <p:cNvSpPr txBox="1"/>
          <p:nvPr/>
        </p:nvSpPr>
        <p:spPr>
          <a:xfrm>
            <a:off x="3608069" y="2266950"/>
            <a:ext cx="1604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478" name="Rectangle 11"/>
          <p:cNvSpPr txBox="1"/>
          <p:nvPr/>
        </p:nvSpPr>
        <p:spPr>
          <a:xfrm>
            <a:off x="3608069" y="2705100"/>
            <a:ext cx="1604012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defRPr sz="8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Question generation</a:t>
            </a:r>
          </a:p>
          <a:p>
            <a:pPr>
              <a:lnSpc>
                <a:spcPct val="90000"/>
              </a:lnSpc>
              <a:defRPr sz="8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Reply parsing</a:t>
            </a:r>
          </a:p>
        </p:txBody>
      </p:sp>
      <p:sp>
        <p:nvSpPr>
          <p:cNvPr id="479" name="Rounded Rectangle 12"/>
          <p:cNvSpPr/>
          <p:nvPr/>
        </p:nvSpPr>
        <p:spPr>
          <a:xfrm>
            <a:off x="6191250" y="209550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0" name="Rectangle 13"/>
          <p:cNvSpPr/>
          <p:nvPr/>
        </p:nvSpPr>
        <p:spPr>
          <a:xfrm>
            <a:off x="6191250" y="2095500"/>
            <a:ext cx="76200" cy="110490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1" name="Rectangle 14"/>
          <p:cNvSpPr txBox="1"/>
          <p:nvPr/>
        </p:nvSpPr>
        <p:spPr>
          <a:xfrm>
            <a:off x="6465569" y="2266950"/>
            <a:ext cx="1604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Database</a:t>
            </a:r>
          </a:p>
        </p:txBody>
      </p:sp>
      <p:sp>
        <p:nvSpPr>
          <p:cNvPr id="482" name="Rectangle 15"/>
          <p:cNvSpPr txBox="1"/>
          <p:nvPr/>
        </p:nvSpPr>
        <p:spPr>
          <a:xfrm>
            <a:off x="6465569" y="2705100"/>
            <a:ext cx="1604012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defRPr sz="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Experiments</a:t>
            </a:r>
          </a:p>
          <a:p>
            <a:pPr>
              <a:lnSpc>
                <a:spcPct val="90000"/>
              </a:lnSpc>
              <a:defRPr sz="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Sensor events</a:t>
            </a:r>
          </a:p>
          <a:p>
            <a:pPr>
              <a:lnSpc>
                <a:spcPct val="90000"/>
              </a:lnSpc>
              <a:defRPr sz="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Annotations</a:t>
            </a:r>
          </a:p>
        </p:txBody>
      </p:sp>
      <p:sp>
        <p:nvSpPr>
          <p:cNvPr id="483" name="Rounded Rectangle 16"/>
          <p:cNvSpPr/>
          <p:nvPr/>
        </p:nvSpPr>
        <p:spPr>
          <a:xfrm>
            <a:off x="3333750" y="44767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FF3E3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4" name="Rectangle 17"/>
          <p:cNvSpPr/>
          <p:nvPr/>
        </p:nvSpPr>
        <p:spPr>
          <a:xfrm>
            <a:off x="3333750" y="4476750"/>
            <a:ext cx="76200" cy="1104900"/>
          </a:xfrm>
          <a:prstGeom prst="rect">
            <a:avLst/>
          </a:prstGeom>
          <a:solidFill>
            <a:srgbClr val="C07D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5" name="Rectangle 18"/>
          <p:cNvSpPr txBox="1"/>
          <p:nvPr/>
        </p:nvSpPr>
        <p:spPr>
          <a:xfrm>
            <a:off x="3608069" y="4648200"/>
            <a:ext cx="1604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80000"/>
              </a:lnSpc>
              <a:defRPr b="1" sz="11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Interactive learning</a:t>
            </a:r>
          </a:p>
        </p:txBody>
      </p:sp>
      <p:sp>
        <p:nvSpPr>
          <p:cNvPr id="486" name="Rectangle 19"/>
          <p:cNvSpPr txBox="1"/>
          <p:nvPr/>
        </p:nvSpPr>
        <p:spPr>
          <a:xfrm>
            <a:off x="3608069" y="5086350"/>
            <a:ext cx="1604012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Trigger logic</a:t>
            </a:r>
          </a:p>
        </p:txBody>
      </p:sp>
      <p:sp>
        <p:nvSpPr>
          <p:cNvPr id="487" name="Rounded Rectangle 20"/>
          <p:cNvSpPr/>
          <p:nvPr/>
        </p:nvSpPr>
        <p:spPr>
          <a:xfrm>
            <a:off x="6191250" y="44767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FF3E3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8" name="Rectangle 21"/>
          <p:cNvSpPr/>
          <p:nvPr/>
        </p:nvSpPr>
        <p:spPr>
          <a:xfrm>
            <a:off x="6191250" y="4476750"/>
            <a:ext cx="76200" cy="1104900"/>
          </a:xfrm>
          <a:prstGeom prst="rect">
            <a:avLst/>
          </a:prstGeom>
          <a:solidFill>
            <a:srgbClr val="C07D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9" name="Rectangle 22"/>
          <p:cNvSpPr txBox="1"/>
          <p:nvPr/>
        </p:nvSpPr>
        <p:spPr>
          <a:xfrm>
            <a:off x="6465569" y="4648200"/>
            <a:ext cx="1604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MCP tools</a:t>
            </a:r>
          </a:p>
        </p:txBody>
      </p:sp>
      <p:sp>
        <p:nvSpPr>
          <p:cNvPr id="490" name="Rectangle 23"/>
          <p:cNvSpPr txBox="1"/>
          <p:nvPr/>
        </p:nvSpPr>
        <p:spPr>
          <a:xfrm>
            <a:off x="6465569" y="5086350"/>
            <a:ext cx="1604012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Reliable actions</a:t>
            </a:r>
          </a:p>
        </p:txBody>
      </p:sp>
      <p:sp>
        <p:nvSpPr>
          <p:cNvPr id="491" name="Rounded Rectangle 24"/>
          <p:cNvSpPr/>
          <p:nvPr/>
        </p:nvSpPr>
        <p:spPr>
          <a:xfrm>
            <a:off x="9429750" y="323850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2" name="Rectangle 25"/>
          <p:cNvSpPr/>
          <p:nvPr/>
        </p:nvSpPr>
        <p:spPr>
          <a:xfrm>
            <a:off x="9429750" y="3238500"/>
            <a:ext cx="76200" cy="110490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3" name="Rectangle 26"/>
          <p:cNvSpPr txBox="1"/>
          <p:nvPr/>
        </p:nvSpPr>
        <p:spPr>
          <a:xfrm>
            <a:off x="9704069" y="3409950"/>
            <a:ext cx="1604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14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 dashboard</a:t>
            </a:r>
          </a:p>
        </p:txBody>
      </p:sp>
      <p:sp>
        <p:nvSpPr>
          <p:cNvPr id="494" name="Rectangle 27"/>
          <p:cNvSpPr txBox="1"/>
          <p:nvPr/>
        </p:nvSpPr>
        <p:spPr>
          <a:xfrm>
            <a:off x="9704069" y="3848100"/>
            <a:ext cx="1604012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Review and analysis</a:t>
            </a:r>
          </a:p>
        </p:txBody>
      </p:sp>
      <p:sp>
        <p:nvSpPr>
          <p:cNvPr id="495" name="Rounded Rectangle 28"/>
          <p:cNvSpPr/>
          <p:nvPr/>
        </p:nvSpPr>
        <p:spPr>
          <a:xfrm>
            <a:off x="4000500" y="3333750"/>
            <a:ext cx="4191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F3B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6" name="Rectangle 29"/>
          <p:cNvSpPr txBox="1"/>
          <p:nvPr/>
        </p:nvSpPr>
        <p:spPr>
          <a:xfrm>
            <a:off x="4579619" y="3562350"/>
            <a:ext cx="3032762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b="1" sz="17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AnnoBot core</a:t>
            </a:r>
          </a:p>
        </p:txBody>
      </p:sp>
      <p:sp>
        <p:nvSpPr>
          <p:cNvPr id="497" name="Rectangle 30"/>
          <p:cNvSpPr/>
          <p:nvPr/>
        </p:nvSpPr>
        <p:spPr>
          <a:xfrm>
            <a:off x="2781300" y="3790950"/>
            <a:ext cx="1219200" cy="19050"/>
          </a:xfrm>
          <a:prstGeom prst="rect">
            <a:avLst/>
          </a:prstGeom>
          <a:solidFill>
            <a:srgbClr val="C8D5D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8" name="Rectangle 31"/>
          <p:cNvSpPr/>
          <p:nvPr/>
        </p:nvSpPr>
        <p:spPr>
          <a:xfrm>
            <a:off x="5429250" y="3200400"/>
            <a:ext cx="19050" cy="133350"/>
          </a:xfrm>
          <a:prstGeom prst="rect">
            <a:avLst/>
          </a:prstGeom>
          <a:solidFill>
            <a:srgbClr val="C8D5D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9" name="Rectangle 32"/>
          <p:cNvSpPr/>
          <p:nvPr/>
        </p:nvSpPr>
        <p:spPr>
          <a:xfrm>
            <a:off x="7239000" y="3200400"/>
            <a:ext cx="19050" cy="133350"/>
          </a:xfrm>
          <a:prstGeom prst="rect">
            <a:avLst/>
          </a:prstGeom>
          <a:solidFill>
            <a:srgbClr val="C8D5D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0" name="Rectangle 33"/>
          <p:cNvSpPr/>
          <p:nvPr/>
        </p:nvSpPr>
        <p:spPr>
          <a:xfrm>
            <a:off x="5429250" y="4191000"/>
            <a:ext cx="19050" cy="285750"/>
          </a:xfrm>
          <a:prstGeom prst="rect">
            <a:avLst/>
          </a:prstGeom>
          <a:solidFill>
            <a:srgbClr val="C8D5D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1" name="Rectangle 34"/>
          <p:cNvSpPr/>
          <p:nvPr/>
        </p:nvSpPr>
        <p:spPr>
          <a:xfrm>
            <a:off x="7239000" y="4191000"/>
            <a:ext cx="19050" cy="285750"/>
          </a:xfrm>
          <a:prstGeom prst="rect">
            <a:avLst/>
          </a:prstGeom>
          <a:solidFill>
            <a:srgbClr val="C8D5D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2" name="Rectangle 35"/>
          <p:cNvSpPr/>
          <p:nvPr/>
        </p:nvSpPr>
        <p:spPr>
          <a:xfrm>
            <a:off x="8191500" y="3790950"/>
            <a:ext cx="1238250" cy="19050"/>
          </a:xfrm>
          <a:prstGeom prst="rect">
            <a:avLst/>
          </a:prstGeom>
          <a:solidFill>
            <a:srgbClr val="C8D5D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Rectangle 40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7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Walkthrough: Annotation Event</a:t>
            </a:r>
          </a:p>
        </p:txBody>
      </p:sp>
      <p:sp>
        <p:nvSpPr>
          <p:cNvPr id="508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22</a:t>
            </a:r>
          </a:p>
        </p:txBody>
      </p:sp>
      <p:grpSp>
        <p:nvGrpSpPr>
          <p:cNvPr id="511" name="Rounded Rectangle 3"/>
          <p:cNvGrpSpPr/>
          <p:nvPr/>
        </p:nvGrpSpPr>
        <p:grpSpPr>
          <a:xfrm>
            <a:off x="914400" y="1314450"/>
            <a:ext cx="2571750" cy="342900"/>
            <a:chOff x="0" y="0"/>
            <a:chExt cx="2571750" cy="342900"/>
          </a:xfrm>
        </p:grpSpPr>
        <p:sp>
          <p:nvSpPr>
            <p:cNvPr id="509" name="Rounded Rectangle"/>
            <p:cNvSpPr/>
            <p:nvPr/>
          </p:nvSpPr>
          <p:spPr>
            <a:xfrm>
              <a:off x="0" y="0"/>
              <a:ext cx="2571750" cy="342900"/>
            </a:xfrm>
            <a:prstGeom prst="roundRect">
              <a:avLst>
                <a:gd name="adj" fmla="val 50000"/>
              </a:avLst>
            </a:prstGeom>
            <a:solidFill>
              <a:srgbClr val="1F77B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90000"/>
                </a:lnSpc>
                <a:defRPr b="1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10" name="Current AnnoBot walkthrough"/>
            <p:cNvSpPr txBox="1"/>
            <p:nvPr/>
          </p:nvSpPr>
          <p:spPr>
            <a:xfrm>
              <a:off x="95936" y="50215"/>
              <a:ext cx="2379878" cy="242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 fontScale="100000" lnSpcReduction="0"/>
            </a:bodyPr>
            <a:lstStyle>
              <a:lvl1pPr algn="ctr">
                <a:lnSpc>
                  <a:spcPct val="90000"/>
                </a:lnSpc>
                <a:def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Current AnnoBot walkthrough</a:t>
              </a:r>
            </a:p>
          </p:txBody>
        </p:sp>
      </p:grpSp>
      <p:sp>
        <p:nvSpPr>
          <p:cNvPr id="512" name="Oval 4"/>
          <p:cNvSpPr/>
          <p:nvPr/>
        </p:nvSpPr>
        <p:spPr>
          <a:xfrm>
            <a:off x="704850" y="2238375"/>
            <a:ext cx="457200" cy="457200"/>
          </a:xfrm>
          <a:prstGeom prst="ellipse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3" name="Rectangle 5"/>
          <p:cNvSpPr txBox="1"/>
          <p:nvPr/>
        </p:nvSpPr>
        <p:spPr>
          <a:xfrm>
            <a:off x="750569" y="2333625"/>
            <a:ext cx="365762" cy="23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14" name="Rounded Rectangle 6"/>
          <p:cNvSpPr/>
          <p:nvPr/>
        </p:nvSpPr>
        <p:spPr>
          <a:xfrm>
            <a:off x="1314450" y="2124075"/>
            <a:ext cx="2743200" cy="990600"/>
          </a:xfrm>
          <a:prstGeom prst="roundRect">
            <a:avLst>
              <a:gd name="adj" fmla="val 7692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5" name="Rectangle 7"/>
          <p:cNvSpPr/>
          <p:nvPr/>
        </p:nvSpPr>
        <p:spPr>
          <a:xfrm>
            <a:off x="1314450" y="2124075"/>
            <a:ext cx="76200" cy="99060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6" name="Rectangle 8"/>
          <p:cNvSpPr txBox="1"/>
          <p:nvPr/>
        </p:nvSpPr>
        <p:spPr>
          <a:xfrm>
            <a:off x="1588769" y="2295525"/>
            <a:ext cx="22517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Define experiment</a:t>
            </a:r>
          </a:p>
        </p:txBody>
      </p:sp>
      <p:sp>
        <p:nvSpPr>
          <p:cNvPr id="517" name="Rectangle 9"/>
          <p:cNvSpPr txBox="1"/>
          <p:nvPr/>
        </p:nvSpPr>
        <p:spPr>
          <a:xfrm>
            <a:off x="1588769" y="2733675"/>
            <a:ext cx="2251712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80000"/>
              </a:lnSpc>
              <a:defRPr sz="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Washing machine experiment created through Telegram</a:t>
            </a:r>
          </a:p>
        </p:txBody>
      </p:sp>
      <p:sp>
        <p:nvSpPr>
          <p:cNvPr id="518" name="Oval 10"/>
          <p:cNvSpPr/>
          <p:nvPr/>
        </p:nvSpPr>
        <p:spPr>
          <a:xfrm>
            <a:off x="4486275" y="2238375"/>
            <a:ext cx="457200" cy="457200"/>
          </a:xfrm>
          <a:prstGeom prst="ellipse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9" name="Rectangle 11"/>
          <p:cNvSpPr txBox="1"/>
          <p:nvPr/>
        </p:nvSpPr>
        <p:spPr>
          <a:xfrm>
            <a:off x="4531994" y="2333625"/>
            <a:ext cx="365762" cy="23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20" name="Rounded Rectangle 12"/>
          <p:cNvSpPr/>
          <p:nvPr/>
        </p:nvSpPr>
        <p:spPr>
          <a:xfrm>
            <a:off x="5095875" y="2124075"/>
            <a:ext cx="2743200" cy="990600"/>
          </a:xfrm>
          <a:prstGeom prst="roundRect">
            <a:avLst>
              <a:gd name="adj" fmla="val 7692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1" name="Rectangle 13"/>
          <p:cNvSpPr/>
          <p:nvPr/>
        </p:nvSpPr>
        <p:spPr>
          <a:xfrm>
            <a:off x="5095875" y="2124075"/>
            <a:ext cx="76200" cy="99060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2" name="Rectangle 14"/>
          <p:cNvSpPr txBox="1"/>
          <p:nvPr/>
        </p:nvSpPr>
        <p:spPr>
          <a:xfrm>
            <a:off x="5370194" y="2295525"/>
            <a:ext cx="22517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Register sensor</a:t>
            </a:r>
          </a:p>
        </p:txBody>
      </p:sp>
      <p:sp>
        <p:nvSpPr>
          <p:cNvPr id="523" name="Rectangle 15"/>
          <p:cNvSpPr txBox="1"/>
          <p:nvPr/>
        </p:nvSpPr>
        <p:spPr>
          <a:xfrm>
            <a:off x="5370194" y="2733675"/>
            <a:ext cx="2251712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59536">
              <a:lnSpc>
                <a:spcPct val="90000"/>
              </a:lnSpc>
              <a:defRPr sz="846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Power sensor linked and trigger threshold set</a:t>
            </a:r>
          </a:p>
        </p:txBody>
      </p:sp>
      <p:sp>
        <p:nvSpPr>
          <p:cNvPr id="524" name="Oval 16"/>
          <p:cNvSpPr/>
          <p:nvPr/>
        </p:nvSpPr>
        <p:spPr>
          <a:xfrm>
            <a:off x="8267700" y="2238375"/>
            <a:ext cx="457200" cy="457200"/>
          </a:xfrm>
          <a:prstGeom prst="ellipse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5" name="Rectangle 17"/>
          <p:cNvSpPr txBox="1"/>
          <p:nvPr/>
        </p:nvSpPr>
        <p:spPr>
          <a:xfrm>
            <a:off x="8313419" y="2333625"/>
            <a:ext cx="365762" cy="23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26" name="Rounded Rectangle 18"/>
          <p:cNvSpPr/>
          <p:nvPr/>
        </p:nvSpPr>
        <p:spPr>
          <a:xfrm>
            <a:off x="8877300" y="2124075"/>
            <a:ext cx="2743200" cy="990600"/>
          </a:xfrm>
          <a:prstGeom prst="roundRect">
            <a:avLst>
              <a:gd name="adj" fmla="val 7692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7" name="Rectangle 19"/>
          <p:cNvSpPr/>
          <p:nvPr/>
        </p:nvSpPr>
        <p:spPr>
          <a:xfrm>
            <a:off x="8877300" y="2124075"/>
            <a:ext cx="76200" cy="99060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8" name="Rectangle 20"/>
          <p:cNvSpPr txBox="1"/>
          <p:nvPr/>
        </p:nvSpPr>
        <p:spPr>
          <a:xfrm>
            <a:off x="9151619" y="2295525"/>
            <a:ext cx="22517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Detect activity</a:t>
            </a:r>
          </a:p>
        </p:txBody>
      </p:sp>
      <p:sp>
        <p:nvSpPr>
          <p:cNvPr id="529" name="Rectangle 21"/>
          <p:cNvSpPr txBox="1"/>
          <p:nvPr/>
        </p:nvSpPr>
        <p:spPr>
          <a:xfrm>
            <a:off x="9151619" y="2733675"/>
            <a:ext cx="2251712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sz="8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appliance draws power during a real cycle</a:t>
            </a:r>
          </a:p>
        </p:txBody>
      </p:sp>
      <p:sp>
        <p:nvSpPr>
          <p:cNvPr id="530" name="Oval 22"/>
          <p:cNvSpPr/>
          <p:nvPr/>
        </p:nvSpPr>
        <p:spPr>
          <a:xfrm>
            <a:off x="704850" y="4333875"/>
            <a:ext cx="457200" cy="457200"/>
          </a:xfrm>
          <a:prstGeom prst="ellipse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1" name="Rectangle 23"/>
          <p:cNvSpPr txBox="1"/>
          <p:nvPr/>
        </p:nvSpPr>
        <p:spPr>
          <a:xfrm>
            <a:off x="750569" y="4429125"/>
            <a:ext cx="365762" cy="23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32" name="Rounded Rectangle 24"/>
          <p:cNvSpPr/>
          <p:nvPr/>
        </p:nvSpPr>
        <p:spPr>
          <a:xfrm>
            <a:off x="1314450" y="4219575"/>
            <a:ext cx="2743200" cy="990600"/>
          </a:xfrm>
          <a:prstGeom prst="roundRect">
            <a:avLst>
              <a:gd name="adj" fmla="val 7692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3" name="Rectangle 25"/>
          <p:cNvSpPr/>
          <p:nvPr/>
        </p:nvSpPr>
        <p:spPr>
          <a:xfrm>
            <a:off x="1314450" y="4219575"/>
            <a:ext cx="76200" cy="99060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4" name="Rectangle 26"/>
          <p:cNvSpPr txBox="1"/>
          <p:nvPr/>
        </p:nvSpPr>
        <p:spPr>
          <a:xfrm>
            <a:off x="1588769" y="4391025"/>
            <a:ext cx="22517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Ask</a:t>
            </a:r>
          </a:p>
        </p:txBody>
      </p:sp>
      <p:sp>
        <p:nvSpPr>
          <p:cNvPr id="535" name="Rectangle 27"/>
          <p:cNvSpPr txBox="1"/>
          <p:nvPr/>
        </p:nvSpPr>
        <p:spPr>
          <a:xfrm>
            <a:off x="1588769" y="4829175"/>
            <a:ext cx="2251712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sz="10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Interactive learning flags a new event</a:t>
            </a:r>
          </a:p>
        </p:txBody>
      </p:sp>
      <p:sp>
        <p:nvSpPr>
          <p:cNvPr id="536" name="Oval 28"/>
          <p:cNvSpPr/>
          <p:nvPr/>
        </p:nvSpPr>
        <p:spPr>
          <a:xfrm>
            <a:off x="4486275" y="4333875"/>
            <a:ext cx="457200" cy="457200"/>
          </a:xfrm>
          <a:prstGeom prst="ellipse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7" name="Rectangle 29"/>
          <p:cNvSpPr txBox="1"/>
          <p:nvPr/>
        </p:nvSpPr>
        <p:spPr>
          <a:xfrm>
            <a:off x="4531994" y="4429125"/>
            <a:ext cx="365762" cy="23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38" name="Rounded Rectangle 30"/>
          <p:cNvSpPr/>
          <p:nvPr/>
        </p:nvSpPr>
        <p:spPr>
          <a:xfrm>
            <a:off x="5095875" y="4219575"/>
            <a:ext cx="2743200" cy="990600"/>
          </a:xfrm>
          <a:prstGeom prst="roundRect">
            <a:avLst>
              <a:gd name="adj" fmla="val 7692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9" name="Rectangle 31"/>
          <p:cNvSpPr/>
          <p:nvPr/>
        </p:nvSpPr>
        <p:spPr>
          <a:xfrm>
            <a:off x="5095875" y="4219575"/>
            <a:ext cx="76200" cy="99060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0" name="Rectangle 32"/>
          <p:cNvSpPr txBox="1"/>
          <p:nvPr/>
        </p:nvSpPr>
        <p:spPr>
          <a:xfrm>
            <a:off x="5370194" y="4391025"/>
            <a:ext cx="22517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Reply</a:t>
            </a:r>
          </a:p>
        </p:txBody>
      </p:sp>
      <p:sp>
        <p:nvSpPr>
          <p:cNvPr id="541" name="Rectangle 33"/>
          <p:cNvSpPr txBox="1"/>
          <p:nvPr/>
        </p:nvSpPr>
        <p:spPr>
          <a:xfrm>
            <a:off x="5370194" y="4829175"/>
            <a:ext cx="2251712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80000"/>
              </a:lnSpc>
              <a:defRPr sz="8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Occupant provides the missing context</a:t>
            </a:r>
          </a:p>
        </p:txBody>
      </p:sp>
      <p:sp>
        <p:nvSpPr>
          <p:cNvPr id="542" name="Oval 34"/>
          <p:cNvSpPr/>
          <p:nvPr/>
        </p:nvSpPr>
        <p:spPr>
          <a:xfrm>
            <a:off x="8267700" y="4333875"/>
            <a:ext cx="457200" cy="457200"/>
          </a:xfrm>
          <a:prstGeom prst="ellipse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3" name="Rectangle 35"/>
          <p:cNvSpPr txBox="1"/>
          <p:nvPr/>
        </p:nvSpPr>
        <p:spPr>
          <a:xfrm>
            <a:off x="8313419" y="4429125"/>
            <a:ext cx="365762" cy="23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44" name="Rounded Rectangle 36"/>
          <p:cNvSpPr/>
          <p:nvPr/>
        </p:nvSpPr>
        <p:spPr>
          <a:xfrm>
            <a:off x="8877300" y="4219575"/>
            <a:ext cx="2743200" cy="990600"/>
          </a:xfrm>
          <a:prstGeom prst="roundRect">
            <a:avLst>
              <a:gd name="adj" fmla="val 7692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5" name="Rectangle 37"/>
          <p:cNvSpPr/>
          <p:nvPr/>
        </p:nvSpPr>
        <p:spPr>
          <a:xfrm>
            <a:off x="8877300" y="4219575"/>
            <a:ext cx="76200" cy="99060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6" name="Rectangle 38"/>
          <p:cNvSpPr txBox="1"/>
          <p:nvPr/>
        </p:nvSpPr>
        <p:spPr>
          <a:xfrm>
            <a:off x="9151619" y="4391025"/>
            <a:ext cx="22517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Store</a:t>
            </a:r>
          </a:p>
        </p:txBody>
      </p:sp>
      <p:sp>
        <p:nvSpPr>
          <p:cNvPr id="547" name="Rectangle 39"/>
          <p:cNvSpPr txBox="1"/>
          <p:nvPr/>
        </p:nvSpPr>
        <p:spPr>
          <a:xfrm>
            <a:off x="9151619" y="4829175"/>
            <a:ext cx="2251712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sz="7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Annotation and embedding are written to the database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Rectangle 24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2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Walkthrough: From Event To Case</a:t>
            </a:r>
          </a:p>
        </p:txBody>
      </p:sp>
      <p:sp>
        <p:nvSpPr>
          <p:cNvPr id="553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23</a:t>
            </a:r>
          </a:p>
        </p:txBody>
      </p:sp>
      <p:grpSp>
        <p:nvGrpSpPr>
          <p:cNvPr id="556" name="Rounded Rectangle 3"/>
          <p:cNvGrpSpPr/>
          <p:nvPr/>
        </p:nvGrpSpPr>
        <p:grpSpPr>
          <a:xfrm>
            <a:off x="914400" y="1314450"/>
            <a:ext cx="2571750" cy="342900"/>
            <a:chOff x="0" y="0"/>
            <a:chExt cx="2571750" cy="342900"/>
          </a:xfrm>
        </p:grpSpPr>
        <p:sp>
          <p:nvSpPr>
            <p:cNvPr id="554" name="Rounded Rectangle"/>
            <p:cNvSpPr/>
            <p:nvPr/>
          </p:nvSpPr>
          <p:spPr>
            <a:xfrm>
              <a:off x="0" y="0"/>
              <a:ext cx="2571750" cy="342900"/>
            </a:xfrm>
            <a:prstGeom prst="roundRect">
              <a:avLst>
                <a:gd name="adj" fmla="val 50000"/>
              </a:avLst>
            </a:prstGeom>
            <a:solidFill>
              <a:srgbClr val="1F77B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90000"/>
                </a:lnSpc>
                <a:defRPr b="1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5" name="Current AnnoBot walkthrough"/>
            <p:cNvSpPr txBox="1"/>
            <p:nvPr/>
          </p:nvSpPr>
          <p:spPr>
            <a:xfrm>
              <a:off x="95936" y="50215"/>
              <a:ext cx="2379878" cy="242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 fontScale="100000" lnSpcReduction="0"/>
            </a:bodyPr>
            <a:lstStyle>
              <a:lvl1pPr algn="ctr">
                <a:lnSpc>
                  <a:spcPct val="90000"/>
                </a:lnSpc>
                <a:def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Current AnnoBot walkthrough</a:t>
              </a:r>
            </a:p>
          </p:txBody>
        </p:sp>
      </p:grpSp>
      <p:sp>
        <p:nvSpPr>
          <p:cNvPr id="557" name="Rounded Rectangle 4"/>
          <p:cNvSpPr/>
          <p:nvPr/>
        </p:nvSpPr>
        <p:spPr>
          <a:xfrm>
            <a:off x="990600" y="2743200"/>
            <a:ext cx="2247900" cy="1809750"/>
          </a:xfrm>
          <a:prstGeom prst="roundRect">
            <a:avLst>
              <a:gd name="adj" fmla="val 4211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8" name="Rectangle 5"/>
          <p:cNvSpPr/>
          <p:nvPr/>
        </p:nvSpPr>
        <p:spPr>
          <a:xfrm>
            <a:off x="990600" y="2743200"/>
            <a:ext cx="76200" cy="180975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9" name="Rectangle 6"/>
          <p:cNvSpPr txBox="1"/>
          <p:nvPr/>
        </p:nvSpPr>
        <p:spPr>
          <a:xfrm>
            <a:off x="1264919" y="2914650"/>
            <a:ext cx="17564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Pattern</a:t>
            </a:r>
          </a:p>
        </p:txBody>
      </p:sp>
      <p:sp>
        <p:nvSpPr>
          <p:cNvPr id="560" name="Rectangle 7"/>
          <p:cNvSpPr txBox="1"/>
          <p:nvPr/>
        </p:nvSpPr>
        <p:spPr>
          <a:xfrm>
            <a:off x="1264919" y="3352800"/>
            <a:ext cx="1756412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Repeated replies reveal a weekly laundry habit.</a:t>
            </a:r>
          </a:p>
        </p:txBody>
      </p:sp>
      <p:sp>
        <p:nvSpPr>
          <p:cNvPr id="561" name="Rectangle 8"/>
          <p:cNvSpPr/>
          <p:nvPr/>
        </p:nvSpPr>
        <p:spPr>
          <a:xfrm>
            <a:off x="3238500" y="3648075"/>
            <a:ext cx="495300" cy="19050"/>
          </a:xfrm>
          <a:prstGeom prst="rect">
            <a:avLst/>
          </a:prstGeom>
          <a:solidFill>
            <a:srgbClr val="C8D5D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2" name="Rounded Rectangle 9"/>
          <p:cNvSpPr/>
          <p:nvPr/>
        </p:nvSpPr>
        <p:spPr>
          <a:xfrm>
            <a:off x="3733800" y="2743200"/>
            <a:ext cx="2247900" cy="1809750"/>
          </a:xfrm>
          <a:prstGeom prst="roundRect">
            <a:avLst>
              <a:gd name="adj" fmla="val 4211"/>
            </a:avLst>
          </a:prstGeom>
          <a:solidFill>
            <a:srgbClr val="EAF3FA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3" name="Rectangle 10"/>
          <p:cNvSpPr/>
          <p:nvPr/>
        </p:nvSpPr>
        <p:spPr>
          <a:xfrm>
            <a:off x="3733800" y="2743200"/>
            <a:ext cx="76200" cy="1809750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4" name="Rectangle 11"/>
          <p:cNvSpPr txBox="1"/>
          <p:nvPr/>
        </p:nvSpPr>
        <p:spPr>
          <a:xfrm>
            <a:off x="4008119" y="2914650"/>
            <a:ext cx="17564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Filter</a:t>
            </a:r>
          </a:p>
        </p:txBody>
      </p:sp>
      <p:sp>
        <p:nvSpPr>
          <p:cNvPr id="565" name="Rectangle 12"/>
          <p:cNvSpPr txBox="1"/>
          <p:nvPr/>
        </p:nvSpPr>
        <p:spPr>
          <a:xfrm>
            <a:off x="4008119" y="3352800"/>
            <a:ext cx="1756412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dashboard filters by device, date range, or research question.</a:t>
            </a:r>
          </a:p>
        </p:txBody>
      </p:sp>
      <p:sp>
        <p:nvSpPr>
          <p:cNvPr id="566" name="Rectangle 13"/>
          <p:cNvSpPr/>
          <p:nvPr/>
        </p:nvSpPr>
        <p:spPr>
          <a:xfrm>
            <a:off x="5981700" y="3648075"/>
            <a:ext cx="495300" cy="19050"/>
          </a:xfrm>
          <a:prstGeom prst="rect">
            <a:avLst/>
          </a:prstGeom>
          <a:solidFill>
            <a:srgbClr val="C8D5D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7" name="Rounded Rectangle 14"/>
          <p:cNvSpPr/>
          <p:nvPr/>
        </p:nvSpPr>
        <p:spPr>
          <a:xfrm>
            <a:off x="6477000" y="2743200"/>
            <a:ext cx="2247900" cy="1809750"/>
          </a:xfrm>
          <a:prstGeom prst="roundRect">
            <a:avLst>
              <a:gd name="adj" fmla="val 4211"/>
            </a:avLst>
          </a:prstGeom>
          <a:solidFill>
            <a:srgbClr val="FFF3E3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8" name="Rectangle 15"/>
          <p:cNvSpPr/>
          <p:nvPr/>
        </p:nvSpPr>
        <p:spPr>
          <a:xfrm>
            <a:off x="6477000" y="2743200"/>
            <a:ext cx="76200" cy="1809750"/>
          </a:xfrm>
          <a:prstGeom prst="rect">
            <a:avLst/>
          </a:prstGeom>
          <a:solidFill>
            <a:srgbClr val="C07D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9" name="Rectangle 16"/>
          <p:cNvSpPr txBox="1"/>
          <p:nvPr/>
        </p:nvSpPr>
        <p:spPr>
          <a:xfrm>
            <a:off x="6751319" y="2914650"/>
            <a:ext cx="17564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Interpret</a:t>
            </a:r>
          </a:p>
        </p:txBody>
      </p:sp>
      <p:sp>
        <p:nvSpPr>
          <p:cNvPr id="570" name="Rectangle 17"/>
          <p:cNvSpPr txBox="1"/>
          <p:nvPr/>
        </p:nvSpPr>
        <p:spPr>
          <a:xfrm>
            <a:off x="6751319" y="3352800"/>
            <a:ext cx="1756412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Wash days following football training become visible as a case pattern.</a:t>
            </a:r>
          </a:p>
        </p:txBody>
      </p:sp>
      <p:sp>
        <p:nvSpPr>
          <p:cNvPr id="571" name="Rectangle 18"/>
          <p:cNvSpPr/>
          <p:nvPr/>
        </p:nvSpPr>
        <p:spPr>
          <a:xfrm>
            <a:off x="8724900" y="3648075"/>
            <a:ext cx="495300" cy="19050"/>
          </a:xfrm>
          <a:prstGeom prst="rect">
            <a:avLst/>
          </a:prstGeom>
          <a:solidFill>
            <a:srgbClr val="C8D5D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2" name="Rounded Rectangle 19"/>
          <p:cNvSpPr/>
          <p:nvPr/>
        </p:nvSpPr>
        <p:spPr>
          <a:xfrm>
            <a:off x="9220200" y="2743200"/>
            <a:ext cx="2247900" cy="1809750"/>
          </a:xfrm>
          <a:prstGeom prst="roundRect">
            <a:avLst>
              <a:gd name="adj" fmla="val 4211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3" name="Rectangle 20"/>
          <p:cNvSpPr/>
          <p:nvPr/>
        </p:nvSpPr>
        <p:spPr>
          <a:xfrm>
            <a:off x="9220200" y="2743200"/>
            <a:ext cx="76200" cy="180975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4" name="Rectangle 21"/>
          <p:cNvSpPr txBox="1"/>
          <p:nvPr/>
        </p:nvSpPr>
        <p:spPr>
          <a:xfrm>
            <a:off x="9494519" y="2914650"/>
            <a:ext cx="17564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Revise</a:t>
            </a:r>
          </a:p>
        </p:txBody>
      </p:sp>
      <p:sp>
        <p:nvSpPr>
          <p:cNvPr id="575" name="Rectangle 22"/>
          <p:cNvSpPr txBox="1"/>
          <p:nvPr/>
        </p:nvSpPr>
        <p:spPr>
          <a:xfrm>
            <a:off x="9494519" y="3352800"/>
            <a:ext cx="1756412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12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occupant can test a different schedule, programme, or routine.</a:t>
            </a:r>
          </a:p>
        </p:txBody>
      </p:sp>
      <p:sp>
        <p:nvSpPr>
          <p:cNvPr id="576" name="Rectangle 23"/>
          <p:cNvSpPr txBox="1"/>
          <p:nvPr/>
        </p:nvSpPr>
        <p:spPr>
          <a:xfrm>
            <a:off x="1245869" y="5238750"/>
            <a:ext cx="9700262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b="1" sz="14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final revision step expresses the theory. The current prototype mainly supports event capture, annotation, storage, and review.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Rectangle 13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1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Evidence And Limits</a:t>
            </a:r>
          </a:p>
        </p:txBody>
      </p:sp>
      <p:sp>
        <p:nvSpPr>
          <p:cNvPr id="582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583" name="Rectangle 3"/>
          <p:cNvSpPr txBox="1"/>
          <p:nvPr/>
        </p:nvSpPr>
        <p:spPr>
          <a:xfrm>
            <a:off x="922019" y="1314450"/>
            <a:ext cx="10347962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7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supplied work supports component feasibility. It does not yet validate a complete inclusive sufficiency system.</a:t>
            </a:r>
          </a:p>
        </p:txBody>
      </p:sp>
      <p:sp>
        <p:nvSpPr>
          <p:cNvPr id="584" name="Rounded Rectangle 4"/>
          <p:cNvSpPr/>
          <p:nvPr/>
        </p:nvSpPr>
        <p:spPr>
          <a:xfrm>
            <a:off x="876300" y="2333625"/>
            <a:ext cx="4762500" cy="2571750"/>
          </a:xfrm>
          <a:prstGeom prst="roundRect">
            <a:avLst>
              <a:gd name="adj" fmla="val 2963"/>
            </a:avLst>
          </a:prstGeom>
          <a:solidFill>
            <a:srgbClr val="E8F5EF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5" name="Rectangle 5"/>
          <p:cNvSpPr/>
          <p:nvPr/>
        </p:nvSpPr>
        <p:spPr>
          <a:xfrm>
            <a:off x="876300" y="2333625"/>
            <a:ext cx="76200" cy="2571750"/>
          </a:xfrm>
          <a:prstGeom prst="rect">
            <a:avLst/>
          </a:prstGeom>
          <a:solidFill>
            <a:srgbClr val="39A9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6" name="Rectangle 6"/>
          <p:cNvSpPr txBox="1"/>
          <p:nvPr/>
        </p:nvSpPr>
        <p:spPr>
          <a:xfrm>
            <a:off x="1150619" y="2505075"/>
            <a:ext cx="4271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Supported by current materials</a:t>
            </a:r>
          </a:p>
        </p:txBody>
      </p:sp>
      <p:sp>
        <p:nvSpPr>
          <p:cNvPr id="587" name="Rectangle 7"/>
          <p:cNvSpPr txBox="1"/>
          <p:nvPr/>
        </p:nvSpPr>
        <p:spPr>
          <a:xfrm>
            <a:off x="1150619" y="2943225"/>
            <a:ext cx="4271012" cy="182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Sensor-event visualization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Telegram annotation loop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Structured semantic labels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Selective querying logic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Component-level feasibility</a:t>
            </a:r>
          </a:p>
        </p:txBody>
      </p:sp>
      <p:sp>
        <p:nvSpPr>
          <p:cNvPr id="588" name="Rounded Rectangle 8"/>
          <p:cNvSpPr/>
          <p:nvPr/>
        </p:nvSpPr>
        <p:spPr>
          <a:xfrm>
            <a:off x="6553200" y="2333625"/>
            <a:ext cx="4762500" cy="2571750"/>
          </a:xfrm>
          <a:prstGeom prst="roundRect">
            <a:avLst>
              <a:gd name="adj" fmla="val 2963"/>
            </a:avLst>
          </a:prstGeom>
          <a:solidFill>
            <a:srgbClr val="FBECEC"/>
          </a:solidFill>
          <a:ln>
            <a:solidFill>
              <a:srgbClr val="C8D5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9" name="Rectangle 9"/>
          <p:cNvSpPr/>
          <p:nvPr/>
        </p:nvSpPr>
        <p:spPr>
          <a:xfrm>
            <a:off x="6553200" y="2333625"/>
            <a:ext cx="76200" cy="2571750"/>
          </a:xfrm>
          <a:prstGeom prst="rect">
            <a:avLst/>
          </a:prstGeom>
          <a:solidFill>
            <a:srgbClr val="B04A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0" name="Rectangle 10"/>
          <p:cNvSpPr txBox="1"/>
          <p:nvPr/>
        </p:nvSpPr>
        <p:spPr>
          <a:xfrm>
            <a:off x="6827519" y="2505075"/>
            <a:ext cx="4271012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Requires future validation</a:t>
            </a:r>
          </a:p>
        </p:txBody>
      </p:sp>
      <p:sp>
        <p:nvSpPr>
          <p:cNvPr id="591" name="Rectangle 11"/>
          <p:cNvSpPr txBox="1"/>
          <p:nvPr/>
        </p:nvSpPr>
        <p:spPr>
          <a:xfrm>
            <a:off x="6827519" y="2943225"/>
            <a:ext cx="4271012" cy="182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Live ingestion from real residential sensors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Longitudinal multi-household deployment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Case explanations and decision support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Annotation burden and privacy governance</a:t>
            </a:r>
          </a:p>
          <a:p>
            <a:pPr>
              <a:defRPr sz="13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Durable sufficiency effects</a:t>
            </a:r>
          </a:p>
        </p:txBody>
      </p:sp>
      <p:sp>
        <p:nvSpPr>
          <p:cNvPr id="592" name="Rectangle 12"/>
          <p:cNvSpPr txBox="1"/>
          <p:nvPr/>
        </p:nvSpPr>
        <p:spPr>
          <a:xfrm>
            <a:off x="1283969" y="5524500"/>
            <a:ext cx="962406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1400">
                <a:solidFill>
                  <a:srgbClr val="0F3B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Evaluation should include revelation, interpretive relevance, decision support, and sufficiency effects.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Add the screenshots of the demo here !"/>
          <p:cNvSpPr txBox="1"/>
          <p:nvPr/>
        </p:nvSpPr>
        <p:spPr>
          <a:xfrm>
            <a:off x="5855122" y="3243580"/>
            <a:ext cx="3791656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Add the screenshots of the demo here 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Rectangle 6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9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600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601" name="Rectangle 3"/>
          <p:cNvSpPr txBox="1"/>
          <p:nvPr/>
        </p:nvSpPr>
        <p:spPr>
          <a:xfrm>
            <a:off x="922019" y="1333500"/>
            <a:ext cx="1038606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21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Theory and sufficiency sources</a:t>
            </a:r>
          </a:p>
        </p:txBody>
      </p:sp>
      <p:sp>
        <p:nvSpPr>
          <p:cNvPr id="602" name="Rectangle 4"/>
          <p:cNvSpPr txBox="1"/>
          <p:nvPr/>
        </p:nvSpPr>
        <p:spPr>
          <a:xfrm>
            <a:off x="1093469" y="2047875"/>
            <a:ext cx="9814562" cy="3714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150000"/>
              </a:lnSpc>
              <a:defRPr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Abrahamse, W., Steg, L., Vlek, C., &amp; Rothengatter, T. (2005). Journal of Environmental Psychology, 25(3), 273-291.</a:t>
            </a:r>
          </a:p>
          <a:p>
            <a:pPr>
              <a:lnSpc>
                <a:spcPct val="150000"/>
              </a:lnSpc>
              <a:defRPr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Brand-Correa, L. I., &amp; Steinberger, J. K. (2017). Ecological Economics, 141, 43-52.</a:t>
            </a:r>
          </a:p>
          <a:p>
            <a:pPr>
              <a:lnSpc>
                <a:spcPct val="150000"/>
              </a:lnSpc>
              <a:defRPr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Fogg, B. J. (2002). Persuasive technology. Morgan Kaufmann.</a:t>
            </a:r>
          </a:p>
          <a:p>
            <a:pPr>
              <a:lnSpc>
                <a:spcPct val="150000"/>
              </a:lnSpc>
              <a:defRPr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Greening, L. A., Greene, D. L., &amp; Difiglio, C. (2000). Energy Policy, 28(6-7), 389-401.</a:t>
            </a:r>
          </a:p>
          <a:p>
            <a:pPr>
              <a:lnSpc>
                <a:spcPct val="150000"/>
              </a:lnSpc>
              <a:defRPr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5. Karlin, B., Zinger, J. F., &amp; Ford, R. (2015). Psychological Bulletin, 141(6), 1205-1227.</a:t>
            </a:r>
          </a:p>
          <a:p>
            <a:pPr>
              <a:lnSpc>
                <a:spcPct val="150000"/>
              </a:lnSpc>
              <a:defRPr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6. Max-Neef, M. A., Elizalde, A., &amp; Hopenhayn, M. (1991). Human scale development. Apex Press.</a:t>
            </a:r>
          </a:p>
          <a:p>
            <a:pPr>
              <a:lnSpc>
                <a:spcPct val="150000"/>
              </a:lnSpc>
              <a:defRPr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7. Sovacool, B. K. (2014). Energy Research &amp; Social Science, 1, 1-29.</a:t>
            </a:r>
          </a:p>
          <a:p>
            <a:pPr>
              <a:lnSpc>
                <a:spcPct val="150000"/>
              </a:lnSpc>
              <a:defRPr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8. Suboticki, I., Heidenreich, S., Ryghaug, M., &amp; Skjølsvold, T. M. (2019). Energy Research &amp; Social Science, 56, 101228.</a:t>
            </a:r>
          </a:p>
          <a:p>
            <a:pPr>
              <a:lnSpc>
                <a:spcPct val="150000"/>
              </a:lnSpc>
              <a:defRPr sz="15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9. International Energy Agency (2019). The Critical Role of Buildings.</a:t>
            </a:r>
          </a:p>
        </p:txBody>
      </p:sp>
      <p:sp>
        <p:nvSpPr>
          <p:cNvPr id="603" name="Rectangle 5"/>
          <p:cNvSpPr txBox="1"/>
          <p:nvPr/>
        </p:nvSpPr>
        <p:spPr>
          <a:xfrm>
            <a:off x="1093469" y="5924550"/>
            <a:ext cx="9814562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i="1" sz="12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References retained from the supplied materials. Verify manuscript-status entries before external submission.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Rectangle 6"/>
          <p:cNvSpPr/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3B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8" name="Rectangle 1"/>
          <p:cNvSpPr txBox="1"/>
          <p:nvPr/>
        </p:nvSpPr>
        <p:spPr>
          <a:xfrm>
            <a:off x="683894" y="266700"/>
            <a:ext cx="1024318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609" name="Rectangle 2"/>
          <p:cNvSpPr txBox="1"/>
          <p:nvPr/>
        </p:nvSpPr>
        <p:spPr>
          <a:xfrm>
            <a:off x="11332844" y="6438900"/>
            <a:ext cx="337187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r">
              <a:lnSpc>
                <a:spcPct val="90000"/>
              </a:lnSpc>
              <a:defRPr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26</a:t>
            </a:r>
          </a:p>
        </p:txBody>
      </p:sp>
      <p:sp>
        <p:nvSpPr>
          <p:cNvPr id="610" name="Rectangle 3"/>
          <p:cNvSpPr txBox="1"/>
          <p:nvPr/>
        </p:nvSpPr>
        <p:spPr>
          <a:xfrm>
            <a:off x="922019" y="1333500"/>
            <a:ext cx="1038606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defRPr b="1" sz="21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Annotation, interaction, and implementation sources</a:t>
            </a:r>
          </a:p>
        </p:txBody>
      </p:sp>
      <p:sp>
        <p:nvSpPr>
          <p:cNvPr id="611" name="Rectangle 4"/>
          <p:cNvSpPr txBox="1"/>
          <p:nvPr/>
        </p:nvSpPr>
        <p:spPr>
          <a:xfrm>
            <a:off x="1093469" y="2000250"/>
            <a:ext cx="9814562" cy="3857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120000"/>
              </a:lnSpc>
              <a:defRPr sz="16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10. Alemdar, H., Ertan, H., Incel, O. D., &amp; Ersoy, C. (2013). PervasiveHealth, 232-235.</a:t>
            </a:r>
          </a:p>
          <a:p>
            <a:pPr>
              <a:lnSpc>
                <a:spcPct val="120000"/>
              </a:lnSpc>
              <a:defRPr sz="16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11. Bouchabou, D. et al. (2021). Sensors, 21, 6037.</a:t>
            </a:r>
          </a:p>
          <a:p>
            <a:pPr>
              <a:lnSpc>
                <a:spcPct val="120000"/>
              </a:lnSpc>
              <a:defRPr sz="16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12. Bouchabou, D. et al. (2021). Electronics, 10, 2498.</a:t>
            </a:r>
          </a:p>
          <a:p>
            <a:pPr>
              <a:lnSpc>
                <a:spcPct val="120000"/>
              </a:lnSpc>
              <a:defRPr sz="16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13. del Castillo Cardoso, E. A. (2025). Self-experimentation aiding system for energy management in residential buildings. Ph.D. thesis.</a:t>
            </a:r>
          </a:p>
          <a:p>
            <a:pPr>
              <a:lnSpc>
                <a:spcPct val="120000"/>
              </a:lnSpc>
              <a:defRPr sz="16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14. Das, D. et al. (2021). Explainable activity recognition for smart home systems. arXiv:2105.09787.</a:t>
            </a:r>
          </a:p>
          <a:p>
            <a:pPr>
              <a:lnSpc>
                <a:spcPct val="120000"/>
              </a:lnSpc>
              <a:defRPr sz="16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15. Demrozi, F. et al. (2023). Automated data annotation techniques in human activity recognition. arXiv:2307.05988.</a:t>
            </a:r>
          </a:p>
          <a:p>
            <a:pPr>
              <a:lnSpc>
                <a:spcPct val="120000"/>
              </a:lnSpc>
              <a:defRPr sz="16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16. Fiori, M. et al. (2024). Using large language models to compare explainable models for smart home human activity recognition.</a:t>
            </a:r>
          </a:p>
          <a:p>
            <a:pPr>
              <a:lnSpc>
                <a:spcPct val="120000"/>
              </a:lnSpc>
              <a:defRPr sz="16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17. Silva, J. B., Amayri, M., Ploix, S., Reignier, P., &amp; Silva, C. S. (2022). Energy and Buildings, 258, 111727.</a:t>
            </a:r>
          </a:p>
          <a:p>
            <a:pPr>
              <a:lnSpc>
                <a:spcPct val="120000"/>
              </a:lnSpc>
              <a:defRPr sz="16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18. Tan, Z. et al. (2024). Large language models for data annotation and synthesis. arXiv:2402.13446.</a:t>
            </a:r>
          </a:p>
          <a:p>
            <a:pPr>
              <a:lnSpc>
                <a:spcPct val="120000"/>
              </a:lnSpc>
              <a:defRPr sz="1600">
                <a:solidFill>
                  <a:srgbClr val="1432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19. Thukral, M. et al. (2024). Layout agnostic human activity recognition in smart homes through textual descriptions of sensor triggers.</a:t>
            </a:r>
          </a:p>
        </p:txBody>
      </p:sp>
      <p:sp>
        <p:nvSpPr>
          <p:cNvPr id="612" name="Rectangle 5"/>
          <p:cNvSpPr txBox="1"/>
          <p:nvPr/>
        </p:nvSpPr>
        <p:spPr>
          <a:xfrm>
            <a:off x="1093469" y="5962650"/>
            <a:ext cx="981456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i="1" sz="1100">
                <a:solidFill>
                  <a:srgbClr val="5E7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Longer internal entries from the supplied manuscripts are summarized to preserve slide readability.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3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Rectangle 3"/>
          <p:cNvSpPr txBox="1"/>
          <p:nvPr/>
        </p:nvSpPr>
        <p:spPr>
          <a:xfrm>
            <a:off x="960119" y="1390650"/>
            <a:ext cx="10271762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617" name="Rectangle 1"/>
          <p:cNvSpPr txBox="1"/>
          <p:nvPr/>
        </p:nvSpPr>
        <p:spPr>
          <a:xfrm>
            <a:off x="960119" y="2952750"/>
            <a:ext cx="10271762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defRPr b="1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Questions?</a:t>
            </a:r>
          </a:p>
        </p:txBody>
      </p:sp>
      <p:sp>
        <p:nvSpPr>
          <p:cNvPr id="618" name="Rectangle 2"/>
          <p:cNvSpPr txBox="1"/>
          <p:nvPr/>
        </p:nvSpPr>
        <p:spPr>
          <a:xfrm>
            <a:off x="960119" y="5676900"/>
            <a:ext cx="10271762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ctr">
              <a:defRPr sz="1300">
                <a:solidFill>
                  <a:srgbClr val="D9EAF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Grenoble INP, G-SCOP Laboratory</a:t>
            </a:r>
          </a:p>
          <a:p>
            <a:pPr algn="ctr">
              <a:defRPr sz="1300">
                <a:solidFill>
                  <a:srgbClr val="D9EAF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September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